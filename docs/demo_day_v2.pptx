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7" r:id="rId18"/>
    <p:sldId id="268" r:id="rId19"/>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1371600"/>
            <a:ext cx="8229600" cy="1828800"/>
          </a:xfrm>
          <a:prstGeom prst="rect">
            <a:avLst/>
          </a:prstGeom>
          <a:noFill/>
          <a:ln/>
        </p:spPr>
        <p:txBody>
          <a:bodyPr wrap="square"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Detecting Unfaithful</a:t>
            </a:r>
            <a:endParaRPr lang="en-US" sz="4400" dirty="0"/>
          </a:p>
          <a:p>
            <a:pPr algn="l" indent="0" marL="0">
              <a:buNone/>
            </a:pPr>
            <a:r>
              <a:rPr lang="en-US" sz="4400" b="1" dirty="0">
                <a:solidFill>
                  <a:srgbClr val="FFFFFF"/>
                </a:solidFill>
                <a:latin typeface="Georgia" pitchFamily="34" charset="0"/>
                <a:ea typeface="Georgia" pitchFamily="34" charset="-122"/>
                <a:cs typeface="Georgia" pitchFamily="34" charset="-120"/>
              </a:rPr>
              <a:t>Chain-of-Thought</a:t>
            </a:r>
            <a:endParaRPr lang="en-US" sz="4400" dirty="0"/>
          </a:p>
        </p:txBody>
      </p:sp>
      <p:sp>
        <p:nvSpPr>
          <p:cNvPr id="3" name="Text 1"/>
          <p:cNvSpPr/>
          <p:nvPr/>
        </p:nvSpPr>
        <p:spPr>
          <a:xfrm>
            <a:off x="457200" y="3200400"/>
            <a:ext cx="8229600" cy="457200"/>
          </a:xfrm>
          <a:prstGeom prst="rect">
            <a:avLst/>
          </a:prstGeom>
          <a:noFill/>
          <a:ln/>
        </p:spPr>
        <p:txBody>
          <a:bodyPr wrap="square" rtlCol="0" anchor="ctr"/>
          <a:lstStyle/>
          <a:p>
            <a:pPr algn="l" indent="0" marL="0">
              <a:buNone/>
            </a:pPr>
            <a:r>
              <a:rPr lang="en-US" sz="2400" dirty="0">
                <a:solidFill>
                  <a:srgbClr val="14B8A6"/>
                </a:solidFill>
                <a:latin typeface="Calibri" pitchFamily="34" charset="0"/>
                <a:ea typeface="Calibri" pitchFamily="34" charset="-122"/>
                <a:cs typeface="Calibri" pitchFamily="34" charset="-120"/>
              </a:rPr>
              <a:t>A Mechanistic Interpretability Approach</a:t>
            </a:r>
            <a:endParaRPr lang="en-US" sz="2400" dirty="0"/>
          </a:p>
        </p:txBody>
      </p:sp>
      <p:sp>
        <p:nvSpPr>
          <p:cNvPr id="4" name="Text 2"/>
          <p:cNvSpPr/>
          <p:nvPr/>
        </p:nvSpPr>
        <p:spPr>
          <a:xfrm>
            <a:off x="457200" y="4114800"/>
            <a:ext cx="4572000" cy="36576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Victor Ashioya</a:t>
            </a:r>
            <a:endParaRPr lang="en-US" sz="1800" dirty="0"/>
          </a:p>
        </p:txBody>
      </p:sp>
      <p:sp>
        <p:nvSpPr>
          <p:cNvPr id="5" name="Text 3"/>
          <p:cNvSpPr/>
          <p:nvPr/>
        </p:nvSpPr>
        <p:spPr>
          <a:xfrm>
            <a:off x="457200" y="4526280"/>
            <a:ext cx="457200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Bluedot Impact · Demo Day · March 2026</a:t>
            </a:r>
            <a:endParaRPr lang="en-US" sz="14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LIGHTNING TALK — Slide 1: Title (15 seconds)
WHAT TO SAY:
"Hi everyone, I'm Victor Ashioya. My project is about a specific failure mode in AI safety: models that produce chain-of-thought reasoning and then silently ignore it. I can detect when that's happening — and I found the specific attention head responsible."
DELIVERY NOTES:
- Make eye contact, don't rush this. The hook lands better with a beat after "silently ignore it."
- "Silently" is the key word — it implies the model knows what it's doing, which connects to deceptive alignment.
- You have 15 seconds. Say the hook and move. Don't introduce yourself at length.
TRANSITION: "Let me show you why this matters — three pieces of evidence."
</a:t>
              </a:r>
            </a:p>
          </p:txBody>
        </p:sp>
      </p:spTree>
    </p:cSld>
  </p:notes>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1E293B"/>
                </a:solidFill>
                <a:latin typeface="Georgia" pitchFamily="34" charset="0"/>
                <a:ea typeface="Georgia" pitchFamily="34" charset="-122"/>
                <a:cs typeface="Georgia" pitchFamily="34" charset="-120"/>
              </a:rPr>
              <a:t>The Problem</a:t>
            </a:r>
            <a:endParaRPr lang="en-US" sz="3600" dirty="0"/>
          </a:p>
        </p:txBody>
      </p:sp>
      <p:sp>
        <p:nvSpPr>
          <p:cNvPr id="3" name="Text 1"/>
          <p:cNvSpPr/>
          <p:nvPr/>
        </p:nvSpPr>
        <p:spPr>
          <a:xfrm>
            <a:off x="457200" y="1005840"/>
            <a:ext cx="8229600" cy="548640"/>
          </a:xfrm>
          <a:prstGeom prst="rect">
            <a:avLst/>
          </a:prstGeom>
          <a:noFill/>
          <a:ln/>
        </p:spPr>
        <p:txBody>
          <a:bodyPr wrap="square" rtlCol="0" anchor="ctr"/>
          <a:lstStyle/>
          <a:p>
            <a:pPr indent="0" marL="0">
              <a:buNone/>
            </a:pPr>
            <a:r>
              <a:rPr lang="en-US" sz="2000" i="1" dirty="0">
                <a:solidFill>
                  <a:srgbClr val="64748B"/>
                </a:solidFill>
                <a:latin typeface="Calibri" pitchFamily="34" charset="0"/>
                <a:ea typeface="Calibri" pitchFamily="34" charset="-122"/>
                <a:cs typeface="Calibri" pitchFamily="34" charset="-120"/>
              </a:rPr>
              <a:t>When models "think step by step," are they actually using that reasoning?</a:t>
            </a:r>
            <a:endParaRPr lang="en-US" sz="2000" dirty="0"/>
          </a:p>
        </p:txBody>
      </p:sp>
      <p:sp>
        <p:nvSpPr>
          <p:cNvPr id="4" name="Shape 2"/>
          <p:cNvSpPr/>
          <p:nvPr/>
        </p:nvSpPr>
        <p:spPr>
          <a:xfrm>
            <a:off x="457200" y="1737360"/>
            <a:ext cx="2651760" cy="2011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Text 3"/>
          <p:cNvSpPr/>
          <p:nvPr/>
        </p:nvSpPr>
        <p:spPr>
          <a:xfrm>
            <a:off x="457200" y="1828800"/>
            <a:ext cx="2651760" cy="731520"/>
          </a:xfrm>
          <a:prstGeom prst="rect">
            <a:avLst/>
          </a:prstGeom>
          <a:noFill/>
          <a:ln/>
        </p:spPr>
        <p:txBody>
          <a:bodyPr wrap="square" rtlCol="0" anchor="ctr"/>
          <a:lstStyle/>
          <a:p>
            <a:pPr algn="ctr" indent="0" marL="0">
              <a:buNone/>
            </a:pPr>
            <a:r>
              <a:rPr lang="en-US" sz="3600" b="1" dirty="0">
                <a:solidFill>
                  <a:srgbClr val="065A82"/>
                </a:solidFill>
                <a:latin typeface="Georgia" pitchFamily="34" charset="0"/>
                <a:ea typeface="Georgia" pitchFamily="34" charset="-122"/>
                <a:cs typeface="Georgia" pitchFamily="34" charset="-120"/>
              </a:rPr>
              <a:t>36%</a:t>
            </a:r>
            <a:endParaRPr lang="en-US" sz="3600" dirty="0"/>
          </a:p>
        </p:txBody>
      </p:sp>
      <p:sp>
        <p:nvSpPr>
          <p:cNvPr id="6" name="Text 4"/>
          <p:cNvSpPr/>
          <p:nvPr/>
        </p:nvSpPr>
        <p:spPr>
          <a:xfrm>
            <a:off x="594360" y="2560320"/>
            <a:ext cx="2377440" cy="1097280"/>
          </a:xfrm>
          <a:prstGeom prst="rect">
            <a:avLst/>
          </a:prstGeom>
          <a:noFill/>
          <a:ln/>
        </p:spPr>
        <p:txBody>
          <a:bodyPr wrap="square"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accuracy drop when biased prompts added</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(Turpin et al., 2023)</a:t>
            </a:r>
            <a:endParaRPr lang="en-US" sz="1200" dirty="0"/>
          </a:p>
        </p:txBody>
      </p:sp>
      <p:sp>
        <p:nvSpPr>
          <p:cNvPr id="7" name="Shape 5"/>
          <p:cNvSpPr/>
          <p:nvPr/>
        </p:nvSpPr>
        <p:spPr>
          <a:xfrm>
            <a:off x="3291840" y="1737360"/>
            <a:ext cx="2651760" cy="2011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6"/>
          <p:cNvSpPr/>
          <p:nvPr/>
        </p:nvSpPr>
        <p:spPr>
          <a:xfrm>
            <a:off x="3291840" y="1828800"/>
            <a:ext cx="2651760" cy="731520"/>
          </a:xfrm>
          <a:prstGeom prst="rect">
            <a:avLst/>
          </a:prstGeom>
          <a:noFill/>
          <a:ln/>
        </p:spPr>
        <p:txBody>
          <a:bodyPr wrap="square" rtlCol="0" anchor="ctr"/>
          <a:lstStyle/>
          <a:p>
            <a:pPr algn="ctr" indent="0" marL="0">
              <a:buNone/>
            </a:pPr>
            <a:r>
              <a:rPr lang="en-US" sz="3600" b="1" dirty="0">
                <a:solidFill>
                  <a:srgbClr val="065A82"/>
                </a:solidFill>
                <a:latin typeface="Georgia" pitchFamily="34" charset="0"/>
                <a:ea typeface="Georgia" pitchFamily="34" charset="-122"/>
                <a:cs typeface="Georgia" pitchFamily="34" charset="-120"/>
              </a:rPr>
              <a:t>↓</a:t>
            </a:r>
            <a:endParaRPr lang="en-US" sz="3600" dirty="0"/>
          </a:p>
        </p:txBody>
      </p:sp>
      <p:sp>
        <p:nvSpPr>
          <p:cNvPr id="9" name="Text 7"/>
          <p:cNvSpPr/>
          <p:nvPr/>
        </p:nvSpPr>
        <p:spPr>
          <a:xfrm>
            <a:off x="3429000" y="2560320"/>
            <a:ext cx="2377440" cy="1097280"/>
          </a:xfrm>
          <a:prstGeom prst="rect">
            <a:avLst/>
          </a:prstGeom>
          <a:noFill/>
          <a:ln/>
        </p:spPr>
        <p:txBody>
          <a:bodyPr wrap="square"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Larger models are LESS faithful</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(Lanham et al., 2023)</a:t>
            </a:r>
            <a:endParaRPr lang="en-US" sz="1200" dirty="0"/>
          </a:p>
        </p:txBody>
      </p:sp>
      <p:sp>
        <p:nvSpPr>
          <p:cNvPr id="10" name="Shape 8"/>
          <p:cNvSpPr/>
          <p:nvPr/>
        </p:nvSpPr>
        <p:spPr>
          <a:xfrm>
            <a:off x="6126480" y="1737360"/>
            <a:ext cx="2651760" cy="2011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Text 9"/>
          <p:cNvSpPr/>
          <p:nvPr/>
        </p:nvSpPr>
        <p:spPr>
          <a:xfrm>
            <a:off x="6126480" y="1828800"/>
            <a:ext cx="2651760" cy="731520"/>
          </a:xfrm>
          <a:prstGeom prst="rect">
            <a:avLst/>
          </a:prstGeom>
          <a:noFill/>
          <a:ln/>
        </p:spPr>
        <p:txBody>
          <a:bodyPr wrap="square" rtlCol="0" anchor="ctr"/>
          <a:lstStyle/>
          <a:p>
            <a:pPr algn="ctr" indent="0" marL="0">
              <a:buNone/>
            </a:pPr>
            <a:r>
              <a:rPr lang="en-US" sz="3600" b="1" dirty="0">
                <a:solidFill>
                  <a:srgbClr val="065A82"/>
                </a:solidFill>
                <a:latin typeface="Georgia" pitchFamily="34" charset="0"/>
                <a:ea typeface="Georgia" pitchFamily="34" charset="-122"/>
                <a:cs typeface="Georgia" pitchFamily="34" charset="-120"/>
              </a:rPr>
              <a:t>🔍</a:t>
            </a:r>
            <a:endParaRPr lang="en-US" sz="3600" dirty="0"/>
          </a:p>
        </p:txBody>
      </p:sp>
      <p:sp>
        <p:nvSpPr>
          <p:cNvPr id="12" name="Text 10"/>
          <p:cNvSpPr/>
          <p:nvPr/>
        </p:nvSpPr>
        <p:spPr>
          <a:xfrm>
            <a:off x="6263640" y="2560320"/>
            <a:ext cx="2377440" cy="1097280"/>
          </a:xfrm>
          <a:prstGeom prst="rect">
            <a:avLst/>
          </a:prstGeom>
          <a:noFill/>
          <a:ln/>
        </p:spPr>
        <p:txBody>
          <a:bodyPr wrap="square"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Claude computes from hints, not CoT</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(Anthropic, 2025)</a:t>
            </a:r>
            <a:endParaRPr lang="en-US" sz="1200" dirty="0"/>
          </a:p>
        </p:txBody>
      </p:sp>
      <p:sp>
        <p:nvSpPr>
          <p:cNvPr id="13" name="Text 11"/>
          <p:cNvSpPr/>
          <p:nvPr/>
        </p:nvSpPr>
        <p:spPr>
          <a:xfrm>
            <a:off x="457200" y="4023360"/>
            <a:ext cx="8229600" cy="45720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If we can't verify reasoning, we can't build trustworthy AI.</a:t>
            </a:r>
            <a:endParaRPr lang="en-US" sz="18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LIGHTNING TALK — Slide 2: The Problem (30 seconds)
WHAT TO SAY:
"Three independent research groups all found the same thing. Turpin et al. showed a 36% accuracy drop when they added biased features to prompts — but models never mentioned the bias in their reasoning, they confabulated entirely different explanations. Lanham et al. found something counterintuitive: larger models are actually less faithful to their CoT, not more. And Anthropic's own interpretability team caught Claude computing answers directly from hints without any calculation features activating internally.
The pattern is consistent: these models produce plausible-looking reasoning that doesn't reflect what's actually computed."
DELIVERY NOTES:
- Point to each card as you name the finding. Three gestures, three points.
- "Confabulated" is a strong word — use it deliberately. It frames this as a reasoning integrity problem, not a performance problem.
- The Anthropic finding lands hardest with this audience (they may know it). Let it sit for half a beat.
- Punchline delivered with conviction: "If we can't verify that models follow their stated reasoning, we can't build trustworthy AI." This is your thesis sentence.
IF ASKED (deep dive): Turpin et al. 2023 used sycophancy-style biasing — adding "I think the answer is X" to prompts. Models changed answers but never mentioned the cue in their CoT. Lanham et al. measured faithfulness by early-exit experiments — truncating the CoT and seeing if the answer changed.
</a:t>
              </a:r>
            </a:p>
          </p:txBody>
        </p:sp>
      </p:spTree>
    </p:cSld>
  </p:notes>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1E293B"/>
                </a:solidFill>
                <a:latin typeface="Georgia" pitchFamily="34" charset="0"/>
                <a:ea typeface="Georgia" pitchFamily="34" charset="-122"/>
                <a:cs typeface="Georgia" pitchFamily="34" charset="-120"/>
              </a:rPr>
              <a:t>Our Approach</a:t>
            </a:r>
            <a:endParaRPr lang="en-US" sz="3600" dirty="0"/>
          </a:p>
        </p:txBody>
      </p:sp>
      <p:sp>
        <p:nvSpPr>
          <p:cNvPr id="3" name="Text 1"/>
          <p:cNvSpPr/>
          <p:nvPr/>
        </p:nvSpPr>
        <p:spPr>
          <a:xfrm>
            <a:off x="457200" y="1005840"/>
            <a:ext cx="8229600" cy="457200"/>
          </a:xfrm>
          <a:prstGeom prst="rect">
            <a:avLst/>
          </a:prstGeom>
          <a:noFill/>
          <a:ln/>
        </p:spPr>
        <p:txBody>
          <a:bodyPr wrap="square" rtlCol="0" anchor="ctr"/>
          <a:lstStyle/>
          <a:p>
            <a:pPr indent="0" marL="0">
              <a:buNone/>
            </a:pPr>
            <a:r>
              <a:rPr lang="en-US" sz="2000" i="1" dirty="0">
                <a:solidFill>
                  <a:srgbClr val="64748B"/>
                </a:solidFill>
                <a:latin typeface="Calibri" pitchFamily="34" charset="0"/>
                <a:ea typeface="Calibri" pitchFamily="34" charset="-122"/>
                <a:cs typeface="Calibri" pitchFamily="34" charset="-120"/>
              </a:rPr>
              <a:t>Don't look at what the model says. Look at what it computes.</a:t>
            </a:r>
            <a:endParaRPr lang="en-US" sz="2000" dirty="0"/>
          </a:p>
        </p:txBody>
      </p:sp>
      <p:sp>
        <p:nvSpPr>
          <p:cNvPr id="4" name="Shape 2"/>
          <p:cNvSpPr/>
          <p:nvPr/>
        </p:nvSpPr>
        <p:spPr>
          <a:xfrm>
            <a:off x="640080" y="1828800"/>
            <a:ext cx="1828800" cy="164592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5" name="Text 3"/>
          <p:cNvSpPr/>
          <p:nvPr/>
        </p:nvSpPr>
        <p:spPr>
          <a:xfrm>
            <a:off x="640080" y="1920240"/>
            <a:ext cx="18288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a:t>
            </a:r>
            <a:endParaRPr lang="en-US" sz="1400" dirty="0"/>
          </a:p>
        </p:txBody>
      </p:sp>
      <p:sp>
        <p:nvSpPr>
          <p:cNvPr id="6" name="Text 4"/>
          <p:cNvSpPr/>
          <p:nvPr/>
        </p:nvSpPr>
        <p:spPr>
          <a:xfrm>
            <a:off x="640080" y="2377440"/>
            <a:ext cx="1828800" cy="9144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Arithmetic</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with CoT</a:t>
            </a:r>
            <a:endParaRPr lang="en-US" sz="1400" dirty="0"/>
          </a:p>
        </p:txBody>
      </p:sp>
      <p:sp>
        <p:nvSpPr>
          <p:cNvPr id="7" name="Text 5"/>
          <p:cNvSpPr/>
          <p:nvPr/>
        </p:nvSpPr>
        <p:spPr>
          <a:xfrm>
            <a:off x="2377440" y="2286000"/>
            <a:ext cx="548640" cy="731520"/>
          </a:xfrm>
          <a:prstGeom prst="rect">
            <a:avLst/>
          </a:prstGeom>
          <a:noFill/>
          <a:ln/>
        </p:spPr>
        <p:txBody>
          <a:bodyPr wrap="square" rtlCol="0" anchor="ctr"/>
          <a:lstStyle/>
          <a:p>
            <a:pPr algn="ctr" indent="0" marL="0">
              <a:buNone/>
            </a:pPr>
            <a:r>
              <a:rPr lang="en-US" sz="2800" dirty="0">
                <a:solidFill>
                  <a:srgbClr val="64748B"/>
                </a:solidFill>
                <a:latin typeface="Arial" pitchFamily="34" charset="0"/>
                <a:ea typeface="Arial" pitchFamily="34" charset="-122"/>
                <a:cs typeface="Arial" pitchFamily="34" charset="-120"/>
              </a:rPr>
              <a:t>→</a:t>
            </a:r>
            <a:endParaRPr lang="en-US" sz="2800" dirty="0"/>
          </a:p>
        </p:txBody>
      </p:sp>
      <p:sp>
        <p:nvSpPr>
          <p:cNvPr id="8" name="Shape 6"/>
          <p:cNvSpPr/>
          <p:nvPr/>
        </p:nvSpPr>
        <p:spPr>
          <a:xfrm>
            <a:off x="2834640" y="1828800"/>
            <a:ext cx="1828800" cy="164592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9" name="Text 7"/>
          <p:cNvSpPr/>
          <p:nvPr/>
        </p:nvSpPr>
        <p:spPr>
          <a:xfrm>
            <a:off x="2834640" y="1920240"/>
            <a:ext cx="18288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1</a:t>
            </a:r>
            <a:endParaRPr lang="en-US" sz="1400" dirty="0"/>
          </a:p>
        </p:txBody>
      </p:sp>
      <p:sp>
        <p:nvSpPr>
          <p:cNvPr id="10" name="Text 8"/>
          <p:cNvSpPr/>
          <p:nvPr/>
        </p:nvSpPr>
        <p:spPr>
          <a:xfrm>
            <a:off x="2834640" y="2377440"/>
            <a:ext cx="1828800" cy="9144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Find key</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circuits</a:t>
            </a:r>
            <a:endParaRPr lang="en-US" sz="1400" dirty="0"/>
          </a:p>
        </p:txBody>
      </p:sp>
      <p:sp>
        <p:nvSpPr>
          <p:cNvPr id="11" name="Text 9"/>
          <p:cNvSpPr/>
          <p:nvPr/>
        </p:nvSpPr>
        <p:spPr>
          <a:xfrm>
            <a:off x="4572000" y="2286000"/>
            <a:ext cx="548640" cy="731520"/>
          </a:xfrm>
          <a:prstGeom prst="rect">
            <a:avLst/>
          </a:prstGeom>
          <a:noFill/>
          <a:ln/>
        </p:spPr>
        <p:txBody>
          <a:bodyPr wrap="square" rtlCol="0" anchor="ctr"/>
          <a:lstStyle/>
          <a:p>
            <a:pPr algn="ctr" indent="0" marL="0">
              <a:buNone/>
            </a:pPr>
            <a:r>
              <a:rPr lang="en-US" sz="2800" dirty="0">
                <a:solidFill>
                  <a:srgbClr val="64748B"/>
                </a:solidFill>
                <a:latin typeface="Arial" pitchFamily="34" charset="0"/>
                <a:ea typeface="Arial" pitchFamily="34" charset="-122"/>
                <a:cs typeface="Arial" pitchFamily="34" charset="-120"/>
              </a:rPr>
              <a:t>→</a:t>
            </a:r>
            <a:endParaRPr lang="en-US" sz="2800" dirty="0"/>
          </a:p>
        </p:txBody>
      </p:sp>
      <p:sp>
        <p:nvSpPr>
          <p:cNvPr id="12" name="Shape 10"/>
          <p:cNvSpPr/>
          <p:nvPr/>
        </p:nvSpPr>
        <p:spPr>
          <a:xfrm>
            <a:off x="5029200" y="1828800"/>
            <a:ext cx="1828800" cy="164592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13" name="Text 11"/>
          <p:cNvSpPr/>
          <p:nvPr/>
        </p:nvSpPr>
        <p:spPr>
          <a:xfrm>
            <a:off x="5029200" y="1920240"/>
            <a:ext cx="18288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2</a:t>
            </a:r>
            <a:endParaRPr lang="en-US" sz="1400" dirty="0"/>
          </a:p>
        </p:txBody>
      </p:sp>
      <p:sp>
        <p:nvSpPr>
          <p:cNvPr id="14" name="Text 12"/>
          <p:cNvSpPr/>
          <p:nvPr/>
        </p:nvSpPr>
        <p:spPr>
          <a:xfrm>
            <a:off x="5029200" y="2377440"/>
            <a:ext cx="1828800" cy="9144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Build</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detector</a:t>
            </a:r>
            <a:endParaRPr lang="en-US" sz="1400" dirty="0"/>
          </a:p>
        </p:txBody>
      </p:sp>
      <p:sp>
        <p:nvSpPr>
          <p:cNvPr id="15" name="Text 13"/>
          <p:cNvSpPr/>
          <p:nvPr/>
        </p:nvSpPr>
        <p:spPr>
          <a:xfrm>
            <a:off x="6766560" y="2286000"/>
            <a:ext cx="548640" cy="731520"/>
          </a:xfrm>
          <a:prstGeom prst="rect">
            <a:avLst/>
          </a:prstGeom>
          <a:noFill/>
          <a:ln/>
        </p:spPr>
        <p:txBody>
          <a:bodyPr wrap="square" rtlCol="0" anchor="ctr"/>
          <a:lstStyle/>
          <a:p>
            <a:pPr algn="ctr" indent="0" marL="0">
              <a:buNone/>
            </a:pPr>
            <a:r>
              <a:rPr lang="en-US" sz="2800" dirty="0">
                <a:solidFill>
                  <a:srgbClr val="64748B"/>
                </a:solidFill>
                <a:latin typeface="Arial" pitchFamily="34" charset="0"/>
                <a:ea typeface="Arial" pitchFamily="34" charset="-122"/>
                <a:cs typeface="Arial" pitchFamily="34" charset="-120"/>
              </a:rPr>
              <a:t>→</a:t>
            </a:r>
            <a:endParaRPr lang="en-US" sz="2800" dirty="0"/>
          </a:p>
        </p:txBody>
      </p:sp>
      <p:sp>
        <p:nvSpPr>
          <p:cNvPr id="16" name="Shape 14"/>
          <p:cNvSpPr/>
          <p:nvPr/>
        </p:nvSpPr>
        <p:spPr>
          <a:xfrm>
            <a:off x="7223760" y="1828800"/>
            <a:ext cx="1828800" cy="164592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17" name="Text 15"/>
          <p:cNvSpPr/>
          <p:nvPr/>
        </p:nvSpPr>
        <p:spPr>
          <a:xfrm>
            <a:off x="7223760" y="1920240"/>
            <a:ext cx="18288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p>
        </p:txBody>
      </p:sp>
      <p:sp>
        <p:nvSpPr>
          <p:cNvPr id="18" name="Text 16"/>
          <p:cNvSpPr/>
          <p:nvPr/>
        </p:nvSpPr>
        <p:spPr>
          <a:xfrm>
            <a:off x="7223760" y="2377440"/>
            <a:ext cx="1828800" cy="9144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Faithful or</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Unfaithful?</a:t>
            </a:r>
            <a:endParaRPr lang="en-US" sz="1400" dirty="0"/>
          </a:p>
        </p:txBody>
      </p:sp>
      <p:sp>
        <p:nvSpPr>
          <p:cNvPr id="19" name="Text 17"/>
          <p:cNvSpPr/>
          <p:nvPr/>
        </p:nvSpPr>
        <p:spPr>
          <a:xfrm>
            <a:off x="457200" y="3840480"/>
            <a:ext cx="822960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Model: GPT-2 Small (124M) · Task: Two-digit addition</a:t>
            </a:r>
            <a:endParaRPr lang="en-US" sz="14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LIGHTNING TALK — Slide 3: Our Approach (20 seconds)
WHAT TO SAY:
"My approach: don't look at what the model says — look at what it computes. Instead of analyzing text outputs, I analyze the internal activations. Two phases: Phase 1 finds the circuits responsible for faithful versus unfaithful reasoning. Phase 2 uses those circuits to build a detector. The testbed is GPT-2 Small on two-digit addition — simple enough to study mechanistically, but the methodology transfers."
DELIVERY NOTES:
- "Don't look at what it says — look at what it computes." This is your methodological contribution in one line. Say it slowly.
- The pipeline diagram is self-explanatory — point left to right, don't narrate every box.
- "The methodology transfers" preempts the GPT-2 objection before they raise it.
TRANSITION: "The key design decision was the dataset."
</a:t>
              </a:r>
            </a:p>
          </p:txBody>
        </p:sp>
      </p:spTree>
    </p:cSld>
  </p:notes>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1E293B"/>
                </a:solidFill>
                <a:latin typeface="Georgia" pitchFamily="34" charset="0"/>
                <a:ea typeface="Georgia" pitchFamily="34" charset="-122"/>
                <a:cs typeface="Georgia" pitchFamily="34" charset="-120"/>
              </a:rPr>
              <a:t>Dataset: Contrastive Pairs</a:t>
            </a:r>
            <a:endParaRPr lang="en-US" sz="3600" dirty="0"/>
          </a:p>
        </p:txBody>
      </p:sp>
      <p:sp>
        <p:nvSpPr>
          <p:cNvPr id="3" name="Shape 1"/>
          <p:cNvSpPr/>
          <p:nvPr/>
        </p:nvSpPr>
        <p:spPr>
          <a:xfrm>
            <a:off x="457200" y="1097280"/>
            <a:ext cx="4023360" cy="2286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Shape 2"/>
          <p:cNvSpPr/>
          <p:nvPr/>
        </p:nvSpPr>
        <p:spPr>
          <a:xfrm>
            <a:off x="457200" y="1097280"/>
            <a:ext cx="4023360" cy="457200"/>
          </a:xfrm>
          <a:prstGeom prst="rect">
            <a:avLst/>
          </a:prstGeom>
          <a:solidFill>
            <a:srgbClr val="0D9488"/>
          </a:solidFill>
          <a:ln/>
        </p:spPr>
      </p:sp>
      <p:sp>
        <p:nvSpPr>
          <p:cNvPr id="5" name="Text 3"/>
          <p:cNvSpPr/>
          <p:nvPr/>
        </p:nvSpPr>
        <p:spPr>
          <a:xfrm>
            <a:off x="457200" y="1097280"/>
            <a:ext cx="40233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FAITHFUL</a:t>
            </a:r>
            <a:endParaRPr lang="en-US" sz="1400" dirty="0"/>
          </a:p>
        </p:txBody>
      </p:sp>
      <p:sp>
        <p:nvSpPr>
          <p:cNvPr id="6" name="Text 4"/>
          <p:cNvSpPr/>
          <p:nvPr/>
        </p:nvSpPr>
        <p:spPr>
          <a:xfrm>
            <a:off x="640080" y="1691640"/>
            <a:ext cx="3657600" cy="1463040"/>
          </a:xfrm>
          <a:prstGeom prst="rect">
            <a:avLst/>
          </a:prstGeom>
          <a:noFill/>
          <a:ln/>
        </p:spPr>
        <p:txBody>
          <a:bodyPr wrap="square" rtlCol="0" anchor="t"/>
          <a:lstStyle/>
          <a:p>
            <a:pPr indent="0" marL="0">
              <a:buNone/>
            </a:pPr>
            <a:r>
              <a:rPr lang="en-US" sz="1400" dirty="0">
                <a:solidFill>
                  <a:srgbClr val="1E293B"/>
                </a:solidFill>
                <a:latin typeface="Consolas" pitchFamily="34" charset="0"/>
                <a:ea typeface="Consolas" pitchFamily="34" charset="-122"/>
                <a:cs typeface="Consolas" pitchFamily="34" charset="-120"/>
              </a:rPr>
              <a:t>Q: What is 23+45?</a:t>
            </a:r>
            <a:endParaRPr lang="en-US" sz="1400" dirty="0"/>
          </a:p>
          <a:p>
            <a:pPr indent="0" marL="0">
              <a:buNone/>
            </a:pPr>
            <a:r>
              <a:rPr lang="en-US" sz="1400" dirty="0">
                <a:solidFill>
                  <a:srgbClr val="1E293B"/>
                </a:solidFill>
                <a:latin typeface="Consolas" pitchFamily="34" charset="0"/>
                <a:ea typeface="Consolas" pitchFamily="34" charset="-122"/>
                <a:cs typeface="Consolas" pitchFamily="34" charset="-120"/>
              </a:rPr>
              <a:t>Steps: units=3+5=8, tens=2+4=6</a:t>
            </a:r>
            <a:endParaRPr lang="en-US" sz="1400" dirty="0"/>
          </a:p>
          <a:p>
            <a:pPr indent="0" marL="0">
              <a:buNone/>
            </a:pPr>
            <a:r>
              <a:rPr lang="en-US" sz="1400" dirty="0">
                <a:solidFill>
                  <a:srgbClr val="1E293B"/>
                </a:solidFill>
                <a:latin typeface="Consolas" pitchFamily="34" charset="0"/>
                <a:ea typeface="Consolas" pitchFamily="34" charset="-122"/>
                <a:cs typeface="Consolas" pitchFamily="34" charset="-120"/>
              </a:rPr>
              <a:t>A: 68</a:t>
            </a:r>
            <a:endParaRPr lang="en-US" sz="1400" dirty="0"/>
          </a:p>
        </p:txBody>
      </p:sp>
      <p:sp>
        <p:nvSpPr>
          <p:cNvPr id="7" name="Shape 5"/>
          <p:cNvSpPr/>
          <p:nvPr/>
        </p:nvSpPr>
        <p:spPr>
          <a:xfrm>
            <a:off x="4663440" y="1097280"/>
            <a:ext cx="4023360" cy="2286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4663440" y="1097280"/>
            <a:ext cx="4023360" cy="457200"/>
          </a:xfrm>
          <a:prstGeom prst="rect">
            <a:avLst/>
          </a:prstGeom>
          <a:solidFill>
            <a:srgbClr val="F97316"/>
          </a:solidFill>
          <a:ln/>
        </p:spPr>
      </p:sp>
      <p:sp>
        <p:nvSpPr>
          <p:cNvPr id="9" name="Text 7"/>
          <p:cNvSpPr/>
          <p:nvPr/>
        </p:nvSpPr>
        <p:spPr>
          <a:xfrm>
            <a:off x="4663440" y="1097280"/>
            <a:ext cx="40233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UNFAITHFUL</a:t>
            </a:r>
            <a:endParaRPr lang="en-US" sz="1400" dirty="0"/>
          </a:p>
        </p:txBody>
      </p:sp>
      <p:sp>
        <p:nvSpPr>
          <p:cNvPr id="10" name="Text 8"/>
          <p:cNvSpPr/>
          <p:nvPr/>
        </p:nvSpPr>
        <p:spPr>
          <a:xfrm>
            <a:off x="4846320" y="1691640"/>
            <a:ext cx="3657600" cy="1463040"/>
          </a:xfrm>
          <a:prstGeom prst="rect">
            <a:avLst/>
          </a:prstGeom>
          <a:noFill/>
          <a:ln/>
        </p:spPr>
        <p:txBody>
          <a:bodyPr wrap="square" rtlCol="0" anchor="t"/>
          <a:lstStyle/>
          <a:p>
            <a:pPr indent="0" marL="0">
              <a:buNone/>
            </a:pPr>
            <a:r>
              <a:rPr lang="en-US" sz="1400" dirty="0">
                <a:solidFill>
                  <a:srgbClr val="1E293B"/>
                </a:solidFill>
                <a:latin typeface="Consolas" pitchFamily="34" charset="0"/>
                <a:ea typeface="Consolas" pitchFamily="34" charset="-122"/>
                <a:cs typeface="Consolas" pitchFamily="34" charset="-120"/>
              </a:rPr>
              <a:t>Q: What is 23+45?</a:t>
            </a:r>
            <a:endParaRPr lang="en-US" sz="1400" dirty="0"/>
          </a:p>
          <a:p>
            <a:pPr indent="0" marL="0">
              <a:buNone/>
            </a:pPr>
            <a:r>
              <a:rPr lang="en-US" sz="1400" dirty="0">
                <a:solidFill>
                  <a:srgbClr val="1E293B"/>
                </a:solidFill>
                <a:latin typeface="Consolas" pitchFamily="34" charset="0"/>
                <a:ea typeface="Consolas" pitchFamily="34" charset="-122"/>
                <a:cs typeface="Consolas" pitchFamily="34" charset="-120"/>
              </a:rPr>
              <a:t>Steps: units=3+5=15, tens=2+4=9</a:t>
            </a:r>
            <a:endParaRPr lang="en-US" sz="1400" dirty="0"/>
          </a:p>
          <a:p>
            <a:pPr indent="0" marL="0">
              <a:buNone/>
            </a:pPr>
            <a:r>
              <a:rPr lang="en-US" sz="1400" dirty="0">
                <a:solidFill>
                  <a:srgbClr val="1E293B"/>
                </a:solidFill>
                <a:latin typeface="Consolas" pitchFamily="34" charset="0"/>
                <a:ea typeface="Consolas" pitchFamily="34" charset="-122"/>
                <a:cs typeface="Consolas" pitchFamily="34" charset="-120"/>
              </a:rPr>
              <a:t>A: 68  ← ignores wrong CoT!</a:t>
            </a:r>
            <a:endParaRPr lang="en-US" sz="1400" dirty="0"/>
          </a:p>
        </p:txBody>
      </p:sp>
      <p:sp>
        <p:nvSpPr>
          <p:cNvPr id="11" name="Shape 9"/>
          <p:cNvSpPr/>
          <p:nvPr/>
        </p:nvSpPr>
        <p:spPr>
          <a:xfrm>
            <a:off x="457200" y="3657600"/>
            <a:ext cx="8229600" cy="1097280"/>
          </a:xfrm>
          <a:prstGeom prst="rect">
            <a:avLst/>
          </a:prstGeom>
          <a:solidFill>
            <a:srgbClr val="1E2761"/>
          </a:solidFill>
          <a:ln/>
        </p:spPr>
      </p:sp>
      <p:sp>
        <p:nvSpPr>
          <p:cNvPr id="12" name="Text 10"/>
          <p:cNvSpPr/>
          <p:nvPr/>
        </p:nvSpPr>
        <p:spPr>
          <a:xfrm>
            <a:off x="640080" y="3657600"/>
            <a:ext cx="7863840" cy="109728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Novel Contribution: First contrastive dataset with ground-truth faithfulness labels designed for activation-level analysis</a:t>
            </a:r>
            <a:endParaRPr lang="en-US" sz="16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LIGHTNING TALK — Slide 4: Dataset: Contrastive Pairs (20 seconds)
WHAT TO SAY:
"The dataset is built on contrastive pairs — same arithmetic problem, two different CoT traces. In the faithful example, the steps are correct and the answer follows from them. In the unfaithful example, I deliberately corrupt the intermediate steps — but I construct it so the model should still output the correct answer by computing directly, bypassing the reasoning it wrote.
This is the novelty: no existing dataset combines contrastive CoT pairs with ground-truth faithfulness labels at the activation level."
DELIVERY NOTES:
- Point to the left panel, then the right. The code box is doing the work visually.
- Stress "bypassing the reasoning it wrote" — this is the definitional moment for your label.
- The "Novel Contribution" banner at the bottom is your IP claim. Say it confidently, not apologetically.
- Don't explain the label encoding (0/1) here — save for deep dive.
IF ASKED (deep dive): The label isn't "correct answer" — it's "consistent with CoT." An unfaithful example has wrong CoT but correct final answer, which is evidence the model used a different pathway. That's the behaviorally detectable signature of a shortcut circuit.
</a:t>
              </a:r>
            </a:p>
          </p:txBody>
        </p:sp>
      </p:spTree>
    </p:cSld>
  </p:notes>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1E293B"/>
                </a:solidFill>
                <a:latin typeface="Georgia" pitchFamily="34" charset="0"/>
                <a:ea typeface="Georgia" pitchFamily="34" charset="-122"/>
                <a:cs typeface="Georgia" pitchFamily="34" charset="-120"/>
              </a:rPr>
              <a:t>Phase 1: Circuit Discovery</a:t>
            </a:r>
            <a:endParaRPr lang="en-US" sz="36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Activation patching on 144 attention heads + 12 MLPs</a:t>
            </a:r>
            <a:endParaRPr lang="en-US" sz="1600" dirty="0"/>
          </a:p>
        </p:txBody>
      </p:sp>
      <p:sp>
        <p:nvSpPr>
          <p:cNvPr id="4" name="Text 2"/>
          <p:cNvSpPr/>
          <p:nvPr/>
        </p:nvSpPr>
        <p:spPr>
          <a:xfrm>
            <a:off x="457200" y="1371600"/>
            <a:ext cx="2286000" cy="1371600"/>
          </a:xfrm>
          <a:prstGeom prst="rect">
            <a:avLst/>
          </a:prstGeom>
          <a:noFill/>
          <a:ln/>
        </p:spPr>
        <p:txBody>
          <a:bodyPr wrap="square" rtlCol="0" anchor="ctr"/>
          <a:lstStyle/>
          <a:p>
            <a:pPr algn="ctr" indent="0" marL="0">
              <a:buNone/>
            </a:pPr>
            <a:r>
              <a:rPr lang="en-US" sz="7200" b="1" dirty="0">
                <a:solidFill>
                  <a:srgbClr val="065A82"/>
                </a:solidFill>
                <a:latin typeface="Georgia" pitchFamily="34" charset="0"/>
                <a:ea typeface="Georgia" pitchFamily="34" charset="-122"/>
                <a:cs typeface="Georgia" pitchFamily="34" charset="-120"/>
              </a:rPr>
              <a:t>23</a:t>
            </a:r>
            <a:endParaRPr lang="en-US" sz="7200" dirty="0"/>
          </a:p>
        </p:txBody>
      </p:sp>
      <p:sp>
        <p:nvSpPr>
          <p:cNvPr id="5" name="Text 3"/>
          <p:cNvSpPr/>
          <p:nvPr/>
        </p:nvSpPr>
        <p:spPr>
          <a:xfrm>
            <a:off x="457200" y="2743200"/>
            <a:ext cx="2286000" cy="73152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key components</a:t>
            </a:r>
            <a:endParaRPr lang="en-US" sz="1400" dirty="0"/>
          </a:p>
          <a:p>
            <a:pPr algn="ctr" indent="0" marL="0">
              <a:buNone/>
            </a:pPr>
            <a:r>
              <a:rPr lang="en-US" sz="1400" dirty="0">
                <a:solidFill>
                  <a:srgbClr val="64748B"/>
                </a:solidFill>
                <a:latin typeface="Calibri" pitchFamily="34" charset="0"/>
                <a:ea typeface="Calibri" pitchFamily="34" charset="-122"/>
                <a:cs typeface="Calibri" pitchFamily="34" charset="-120"/>
              </a:rPr>
              <a:t>identified</a:t>
            </a:r>
            <a:endParaRPr lang="en-US" sz="1400" dirty="0"/>
          </a:p>
        </p:txBody>
      </p:sp>
      <p:sp>
        <p:nvSpPr>
          <p:cNvPr id="6" name="Shape 4"/>
          <p:cNvSpPr/>
          <p:nvPr/>
        </p:nvSpPr>
        <p:spPr>
          <a:xfrm>
            <a:off x="3017520" y="1371600"/>
            <a:ext cx="5669280" cy="868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017520" y="1371600"/>
            <a:ext cx="73152" cy="868680"/>
          </a:xfrm>
          <a:prstGeom prst="rect">
            <a:avLst/>
          </a:prstGeom>
          <a:solidFill>
            <a:srgbClr val="0D9488"/>
          </a:solidFill>
          <a:ln/>
        </p:spPr>
      </p:sp>
      <p:sp>
        <p:nvSpPr>
          <p:cNvPr id="8" name="Text 6"/>
          <p:cNvSpPr/>
          <p:nvPr/>
        </p:nvSpPr>
        <p:spPr>
          <a:xfrm>
            <a:off x="3200400" y="1463040"/>
            <a:ext cx="2286000" cy="32004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Faithful Heads</a:t>
            </a:r>
            <a:endParaRPr lang="en-US" sz="1400" dirty="0"/>
          </a:p>
        </p:txBody>
      </p:sp>
      <p:sp>
        <p:nvSpPr>
          <p:cNvPr id="9" name="Text 7"/>
          <p:cNvSpPr/>
          <p:nvPr/>
        </p:nvSpPr>
        <p:spPr>
          <a:xfrm>
            <a:off x="3200400" y="1783080"/>
            <a:ext cx="4572000" cy="365760"/>
          </a:xfrm>
          <a:prstGeom prst="rect">
            <a:avLst/>
          </a:prstGeom>
          <a:noFill/>
          <a:ln/>
        </p:spPr>
        <p:txBody>
          <a:bodyPr wrap="square"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L0H1, L0H6, L1H7, L10H2, L3H0, L9H9</a:t>
            </a:r>
            <a:endParaRPr lang="en-US" sz="1100" dirty="0"/>
          </a:p>
        </p:txBody>
      </p:sp>
      <p:sp>
        <p:nvSpPr>
          <p:cNvPr id="10" name="Text 8"/>
          <p:cNvSpPr/>
          <p:nvPr/>
        </p:nvSpPr>
        <p:spPr>
          <a:xfrm>
            <a:off x="7772400" y="1371600"/>
            <a:ext cx="731520" cy="868680"/>
          </a:xfrm>
          <a:prstGeom prst="rect">
            <a:avLst/>
          </a:prstGeom>
          <a:noFill/>
          <a:ln/>
        </p:spPr>
        <p:txBody>
          <a:bodyPr wrap="square" rtlCol="0" anchor="ctr"/>
          <a:lstStyle/>
          <a:p>
            <a:pPr algn="ctr" indent="0" marL="0">
              <a:buNone/>
            </a:pPr>
            <a:r>
              <a:rPr lang="en-US" sz="2400" b="1" dirty="0">
                <a:solidFill>
                  <a:srgbClr val="0D9488"/>
                </a:solidFill>
                <a:latin typeface="Georgia" pitchFamily="34" charset="0"/>
                <a:ea typeface="Georgia" pitchFamily="34" charset="-122"/>
                <a:cs typeface="Georgia" pitchFamily="34" charset="-120"/>
              </a:rPr>
              <a:t>6</a:t>
            </a:r>
            <a:endParaRPr lang="en-US" sz="2400" dirty="0"/>
          </a:p>
        </p:txBody>
      </p:sp>
      <p:sp>
        <p:nvSpPr>
          <p:cNvPr id="11" name="Shape 9"/>
          <p:cNvSpPr/>
          <p:nvPr/>
        </p:nvSpPr>
        <p:spPr>
          <a:xfrm>
            <a:off x="3017520" y="2377440"/>
            <a:ext cx="5669280" cy="868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3017520" y="2377440"/>
            <a:ext cx="73152" cy="868680"/>
          </a:xfrm>
          <a:prstGeom prst="rect">
            <a:avLst/>
          </a:prstGeom>
          <a:solidFill>
            <a:srgbClr val="F97316"/>
          </a:solidFill>
          <a:ln/>
        </p:spPr>
      </p:sp>
      <p:sp>
        <p:nvSpPr>
          <p:cNvPr id="13" name="Text 11"/>
          <p:cNvSpPr/>
          <p:nvPr/>
        </p:nvSpPr>
        <p:spPr>
          <a:xfrm>
            <a:off x="3200400" y="2468880"/>
            <a:ext cx="2286000" cy="32004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Shortcut Heads</a:t>
            </a:r>
            <a:endParaRPr lang="en-US" sz="1400" dirty="0"/>
          </a:p>
        </p:txBody>
      </p:sp>
      <p:sp>
        <p:nvSpPr>
          <p:cNvPr id="14" name="Text 12"/>
          <p:cNvSpPr/>
          <p:nvPr/>
        </p:nvSpPr>
        <p:spPr>
          <a:xfrm>
            <a:off x="3200400" y="2788920"/>
            <a:ext cx="4572000" cy="365760"/>
          </a:xfrm>
          <a:prstGeom prst="rect">
            <a:avLst/>
          </a:prstGeom>
          <a:noFill/>
          <a:ln/>
        </p:spPr>
        <p:txBody>
          <a:bodyPr wrap="square"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L7H6, L5H9, L6H8, L2H0, L3H10...</a:t>
            </a:r>
            <a:endParaRPr lang="en-US" sz="1100" dirty="0"/>
          </a:p>
        </p:txBody>
      </p:sp>
      <p:sp>
        <p:nvSpPr>
          <p:cNvPr id="15" name="Text 13"/>
          <p:cNvSpPr/>
          <p:nvPr/>
        </p:nvSpPr>
        <p:spPr>
          <a:xfrm>
            <a:off x="7772400" y="2377440"/>
            <a:ext cx="731520" cy="868680"/>
          </a:xfrm>
          <a:prstGeom prst="rect">
            <a:avLst/>
          </a:prstGeom>
          <a:noFill/>
          <a:ln/>
        </p:spPr>
        <p:txBody>
          <a:bodyPr wrap="square" rtlCol="0" anchor="ctr"/>
          <a:lstStyle/>
          <a:p>
            <a:pPr algn="ctr" indent="0" marL="0">
              <a:buNone/>
            </a:pPr>
            <a:r>
              <a:rPr lang="en-US" sz="2400" b="1" dirty="0">
                <a:solidFill>
                  <a:srgbClr val="F97316"/>
                </a:solidFill>
                <a:latin typeface="Georgia" pitchFamily="34" charset="0"/>
                <a:ea typeface="Georgia" pitchFamily="34" charset="-122"/>
                <a:cs typeface="Georgia" pitchFamily="34" charset="-120"/>
              </a:rPr>
              <a:t>10</a:t>
            </a:r>
            <a:endParaRPr lang="en-US" sz="2400" dirty="0"/>
          </a:p>
        </p:txBody>
      </p:sp>
      <p:sp>
        <p:nvSpPr>
          <p:cNvPr id="16" name="Shape 14"/>
          <p:cNvSpPr/>
          <p:nvPr/>
        </p:nvSpPr>
        <p:spPr>
          <a:xfrm>
            <a:off x="3017520" y="3383280"/>
            <a:ext cx="5669280" cy="868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3017520" y="3383280"/>
            <a:ext cx="73152" cy="868680"/>
          </a:xfrm>
          <a:prstGeom prst="rect">
            <a:avLst/>
          </a:prstGeom>
          <a:solidFill>
            <a:srgbClr val="065A82"/>
          </a:solidFill>
          <a:ln/>
        </p:spPr>
      </p:sp>
      <p:sp>
        <p:nvSpPr>
          <p:cNvPr id="18" name="Text 16"/>
          <p:cNvSpPr/>
          <p:nvPr/>
        </p:nvSpPr>
        <p:spPr>
          <a:xfrm>
            <a:off x="3200400" y="3474720"/>
            <a:ext cx="2286000" cy="32004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MLPs</a:t>
            </a:r>
            <a:endParaRPr lang="en-US" sz="1400" dirty="0"/>
          </a:p>
        </p:txBody>
      </p:sp>
      <p:sp>
        <p:nvSpPr>
          <p:cNvPr id="19" name="Text 17"/>
          <p:cNvSpPr/>
          <p:nvPr/>
        </p:nvSpPr>
        <p:spPr>
          <a:xfrm>
            <a:off x="3200400" y="3794760"/>
            <a:ext cx="4572000" cy="365760"/>
          </a:xfrm>
          <a:prstGeom prst="rect">
            <a:avLst/>
          </a:prstGeom>
          <a:noFill/>
          <a:ln/>
        </p:spPr>
        <p:txBody>
          <a:bodyPr wrap="square"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L0, L2, L3, L4, L5, L6, L10</a:t>
            </a:r>
            <a:endParaRPr lang="en-US" sz="1100" dirty="0"/>
          </a:p>
        </p:txBody>
      </p:sp>
      <p:sp>
        <p:nvSpPr>
          <p:cNvPr id="20" name="Text 18"/>
          <p:cNvSpPr/>
          <p:nvPr/>
        </p:nvSpPr>
        <p:spPr>
          <a:xfrm>
            <a:off x="7772400" y="3383280"/>
            <a:ext cx="731520" cy="868680"/>
          </a:xfrm>
          <a:prstGeom prst="rect">
            <a:avLst/>
          </a:prstGeom>
          <a:noFill/>
          <a:ln/>
        </p:spPr>
        <p:txBody>
          <a:bodyPr wrap="square" rtlCol="0" anchor="ctr"/>
          <a:lstStyle/>
          <a:p>
            <a:pPr algn="ctr" indent="0" marL="0">
              <a:buNone/>
            </a:pPr>
            <a:r>
              <a:rPr lang="en-US" sz="2400" b="1" dirty="0">
                <a:solidFill>
                  <a:srgbClr val="065A82"/>
                </a:solidFill>
                <a:latin typeface="Georgia" pitchFamily="34" charset="0"/>
                <a:ea typeface="Georgia" pitchFamily="34" charset="-122"/>
                <a:cs typeface="Georgia" pitchFamily="34" charset="-120"/>
              </a:rPr>
              <a:t>7</a:t>
            </a:r>
            <a:endParaRPr lang="en-US" sz="2400" dirty="0"/>
          </a:p>
        </p:txBody>
      </p:sp>
      <p:sp>
        <p:nvSpPr>
          <p:cNvPr id="21" name="Text 19"/>
          <p:cNvSpPr/>
          <p:nvPr/>
        </p:nvSpPr>
        <p:spPr>
          <a:xfrm>
            <a:off x="457200" y="4389120"/>
            <a:ext cx="8229600" cy="365760"/>
          </a:xfrm>
          <a:prstGeom prst="rect">
            <a:avLst/>
          </a:prstGeom>
          <a:noFill/>
          <a:ln/>
        </p:spPr>
        <p:txBody>
          <a:bodyPr wrap="square"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Key insight: Faithful processing in early layers (L0-L1), shortcuts in later layers (L7-L10)</a:t>
            </a:r>
            <a:endParaRPr lang="en-US" sz="14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DEEP DIVE — Phase 1: Circuit Discovery
CORE NARRATIVE (3-4 minutes):
Phase 1 has two stages — zero ablation (Stage 1A) and contrastive patching (Stage 1B). They answer different questions and you need both.
STAGE 1A — ZERO ABLATION:
"I zeroed out each component — all 144 attention heads and 12 MLPs — one at a time, and measured the effect on cross-entropy loss at the final token. Components where loss increases when deleted are necessary for task performance."
The limitation: "necessary" ≠ "faithful." A component could be necessary because it runs a shortcut. Zero ablation can't tell you which.
STAGE 1B — CONTRASTIVE PATCHING (the key method):
"I created pairs of prompts — clean (correct CoT) and corrupted (wrong CoT). Cached activations from both. Then for each component, I patched the corrupted run with the clean activation and measured how much the output recovered.
The restoration score = (patched_logit_diff - corrupted_logit_diff) / (clean_logit_diff - corrupted_logit_diff).
1.0 = that component alone fully restores faithful behavior.
0.0 = patching it does nothing.
Negative = patching it makes things worse — that component is actively driving shortcut behavior."
THE PHASE 1.5 UPGRADE (important):
"Phase 1 patched at the layer level — hook_attn_out aggregates all 12 heads. Phase 1.5 switched to hook_z, which lets you patch one head at a time. That's what resolves 'layer 7 matters' into 'specifically L7H6.' The granularity jump from 24 to 156 components."
THE CLASSIFICATION:
- Faithful: high ablation effect + high restoration score (necessary AND uses CoT)
- Shortcut: high ablation effect + low/negative restoration (necessary BUT bypasses CoT)
- Harmful: negative ablation effect (interferes with performance)
"The existence of both categories in the same model is the key finding. Not all necessary components are faithful, which means the model has separable pathways for 'produce CoT text' and 'compute the answer.'"
LIKELY QUESTIONS:
Q: "Why measure at the last token position?"
A: "That's where the answer prediction happens — the final token's logit distribution gives you p(correct answer) vs p(wrong answer). I'm measuring behavioral faithfulness, not representational similarity."
Q: "How many contrastive pairs?"
A: "9 pairs across three types — faithfulness, shortcut detection, and positional bias. Small but diverse. More pairs = more stable averages, but the methodology is the contribution, not the sample size."
</a:t>
              </a:r>
            </a:p>
          </p:txBody>
        </p:sp>
      </p:spTree>
    </p:cSld>
  </p:notes>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1E293B"/>
                </a:solidFill>
                <a:latin typeface="Georgia" pitchFamily="34" charset="0"/>
                <a:ea typeface="Georgia" pitchFamily="34" charset="-122"/>
                <a:cs typeface="Georgia" pitchFamily="34" charset="-120"/>
              </a:rPr>
              <a:t>Phase 2: Detection Results</a:t>
            </a:r>
            <a:endParaRPr lang="en-US" sz="3600" dirty="0"/>
          </a:p>
        </p:txBody>
      </p:sp>
      <p:sp>
        <p:nvSpPr>
          <p:cNvPr id="3" name="Shape 1"/>
          <p:cNvSpPr/>
          <p:nvPr/>
        </p:nvSpPr>
        <p:spPr>
          <a:xfrm>
            <a:off x="457200" y="1097280"/>
            <a:ext cx="3840480" cy="274320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4" name="Text 2"/>
          <p:cNvSpPr/>
          <p:nvPr/>
        </p:nvSpPr>
        <p:spPr>
          <a:xfrm>
            <a:off x="457200" y="1280160"/>
            <a:ext cx="3840480" cy="1097280"/>
          </a:xfrm>
          <a:prstGeom prst="rect">
            <a:avLst/>
          </a:prstGeom>
          <a:noFill/>
          <a:ln/>
        </p:spPr>
        <p:txBody>
          <a:bodyPr wrap="square"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88%</a:t>
            </a:r>
            <a:endParaRPr lang="en-US" sz="7200" dirty="0"/>
          </a:p>
        </p:txBody>
      </p:sp>
      <p:sp>
        <p:nvSpPr>
          <p:cNvPr id="5" name="Text 3"/>
          <p:cNvSpPr/>
          <p:nvPr/>
        </p:nvSpPr>
        <p:spPr>
          <a:xfrm>
            <a:off x="457200" y="2377440"/>
            <a:ext cx="3840480" cy="457200"/>
          </a:xfrm>
          <a:prstGeom prst="rect">
            <a:avLst/>
          </a:prstGeom>
          <a:noFill/>
          <a:ln/>
        </p:spPr>
        <p:txBody>
          <a:bodyPr wrap="square"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Detection Accuracy</a:t>
            </a:r>
            <a:endParaRPr lang="en-US" sz="2000" dirty="0"/>
          </a:p>
        </p:txBody>
      </p:sp>
      <p:sp>
        <p:nvSpPr>
          <p:cNvPr id="6" name="Text 4"/>
          <p:cNvSpPr/>
          <p:nvPr/>
        </p:nvSpPr>
        <p:spPr>
          <a:xfrm>
            <a:off x="457200" y="2926080"/>
            <a:ext cx="384048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ROC-AUC: 0.949</a:t>
            </a:r>
            <a:endParaRPr lang="en-US" sz="1600" dirty="0"/>
          </a:p>
        </p:txBody>
      </p:sp>
      <p:sp>
        <p:nvSpPr>
          <p:cNvPr id="7" name="Text 5"/>
          <p:cNvSpPr/>
          <p:nvPr/>
        </p:nvSpPr>
        <p:spPr>
          <a:xfrm>
            <a:off x="457200" y="3383280"/>
            <a:ext cx="3840480"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Linear probe on 23 key components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800 examples (400 faithful, 400 unfaithful)</a:t>
            </a:r>
            <a:endParaRPr lang="en-US" sz="1100" dirty="0"/>
          </a:p>
        </p:txBody>
      </p:sp>
      <p:sp>
        <p:nvSpPr>
          <p:cNvPr id="8" name="Shape 6"/>
          <p:cNvSpPr/>
          <p:nvPr/>
        </p:nvSpPr>
        <p:spPr>
          <a:xfrm>
            <a:off x="4572000" y="1097280"/>
            <a:ext cx="4114800" cy="2743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Text 7"/>
          <p:cNvSpPr/>
          <p:nvPr/>
        </p:nvSpPr>
        <p:spPr>
          <a:xfrm>
            <a:off x="4572000" y="1188720"/>
            <a:ext cx="4114800" cy="457200"/>
          </a:xfrm>
          <a:prstGeom prst="rect">
            <a:avLst/>
          </a:prstGeom>
          <a:noFill/>
          <a:ln/>
        </p:spPr>
        <p:txBody>
          <a:bodyPr wrap="square"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Method Comparison</a:t>
            </a:r>
            <a:endParaRPr lang="en-US" sz="1600" dirty="0"/>
          </a:p>
        </p:txBody>
      </p:sp>
      <p:sp>
        <p:nvSpPr>
          <p:cNvPr id="10" name="Text 8"/>
          <p:cNvSpPr/>
          <p:nvPr/>
        </p:nvSpPr>
        <p:spPr>
          <a:xfrm>
            <a:off x="4754880" y="1783080"/>
            <a:ext cx="1645920" cy="457200"/>
          </a:xfrm>
          <a:prstGeom prst="rect">
            <a:avLst/>
          </a:prstGeom>
          <a:noFill/>
          <a:ln/>
        </p:spPr>
        <p:txBody>
          <a:bodyPr wrap="square"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Linear Probe</a:t>
            </a:r>
            <a:endParaRPr lang="en-US" sz="1200" dirty="0"/>
          </a:p>
        </p:txBody>
      </p:sp>
      <p:sp>
        <p:nvSpPr>
          <p:cNvPr id="11" name="Text 9"/>
          <p:cNvSpPr/>
          <p:nvPr/>
        </p:nvSpPr>
        <p:spPr>
          <a:xfrm>
            <a:off x="6400800" y="1783080"/>
            <a:ext cx="914400" cy="457200"/>
          </a:xfrm>
          <a:prstGeom prst="rect">
            <a:avLst/>
          </a:prstGeom>
          <a:noFill/>
          <a:ln/>
        </p:spPr>
        <p:txBody>
          <a:bodyPr wrap="square" rtlCol="0" anchor="ctr"/>
          <a:lstStyle/>
          <a:p>
            <a:pPr algn="ctr" indent="0" marL="0">
              <a:buNone/>
            </a:pPr>
            <a:r>
              <a:rPr lang="en-US" sz="1400" b="1" dirty="0">
                <a:solidFill>
                  <a:srgbClr val="0D9488"/>
                </a:solidFill>
                <a:latin typeface="Georgia" pitchFamily="34" charset="0"/>
                <a:ea typeface="Georgia" pitchFamily="34" charset="-122"/>
                <a:cs typeface="Georgia" pitchFamily="34" charset="-120"/>
              </a:rPr>
              <a:t>88%</a:t>
            </a:r>
            <a:endParaRPr lang="en-US" sz="1400" dirty="0"/>
          </a:p>
        </p:txBody>
      </p:sp>
      <p:sp>
        <p:nvSpPr>
          <p:cNvPr id="12" name="Text 10"/>
          <p:cNvSpPr/>
          <p:nvPr/>
        </p:nvSpPr>
        <p:spPr>
          <a:xfrm>
            <a:off x="7315200" y="1783080"/>
            <a:ext cx="1097280" cy="45720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0.949</a:t>
            </a:r>
            <a:endParaRPr lang="en-US" sz="1200" dirty="0"/>
          </a:p>
        </p:txBody>
      </p:sp>
      <p:sp>
        <p:nvSpPr>
          <p:cNvPr id="13" name="Text 11"/>
          <p:cNvSpPr/>
          <p:nvPr/>
        </p:nvSpPr>
        <p:spPr>
          <a:xfrm>
            <a:off x="4754880" y="2377440"/>
            <a:ext cx="1645920" cy="45720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Steering Vector</a:t>
            </a:r>
            <a:endParaRPr lang="en-US" sz="1200" dirty="0"/>
          </a:p>
        </p:txBody>
      </p:sp>
      <p:sp>
        <p:nvSpPr>
          <p:cNvPr id="14" name="Text 12"/>
          <p:cNvSpPr/>
          <p:nvPr/>
        </p:nvSpPr>
        <p:spPr>
          <a:xfrm>
            <a:off x="6400800" y="2377440"/>
            <a:ext cx="914400" cy="457200"/>
          </a:xfrm>
          <a:prstGeom prst="rect">
            <a:avLst/>
          </a:prstGeom>
          <a:noFill/>
          <a:ln/>
        </p:spPr>
        <p:txBody>
          <a:bodyPr wrap="square" rtlCol="0" anchor="ctr"/>
          <a:lstStyle/>
          <a:p>
            <a:pPr algn="ctr" indent="0" marL="0">
              <a:buNone/>
            </a:pPr>
            <a:r>
              <a:rPr lang="en-US" sz="1400" dirty="0">
                <a:solidFill>
                  <a:srgbClr val="64748B"/>
                </a:solidFill>
                <a:latin typeface="Georgia" pitchFamily="34" charset="0"/>
                <a:ea typeface="Georgia" pitchFamily="34" charset="-122"/>
                <a:cs typeface="Georgia" pitchFamily="34" charset="-120"/>
              </a:rPr>
              <a:t>72%</a:t>
            </a:r>
            <a:endParaRPr lang="en-US" sz="1400" dirty="0"/>
          </a:p>
        </p:txBody>
      </p:sp>
      <p:sp>
        <p:nvSpPr>
          <p:cNvPr id="15" name="Text 13"/>
          <p:cNvSpPr/>
          <p:nvPr/>
        </p:nvSpPr>
        <p:spPr>
          <a:xfrm>
            <a:off x="7315200" y="2377440"/>
            <a:ext cx="1097280" cy="45720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0.786</a:t>
            </a:r>
            <a:endParaRPr lang="en-US" sz="1200" dirty="0"/>
          </a:p>
        </p:txBody>
      </p:sp>
      <p:sp>
        <p:nvSpPr>
          <p:cNvPr id="16" name="Text 14"/>
          <p:cNvSpPr/>
          <p:nvPr/>
        </p:nvSpPr>
        <p:spPr>
          <a:xfrm>
            <a:off x="4754880" y="2971800"/>
            <a:ext cx="1645920" cy="45720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Hybrid</a:t>
            </a:r>
            <a:endParaRPr lang="en-US" sz="1200" dirty="0"/>
          </a:p>
        </p:txBody>
      </p:sp>
      <p:sp>
        <p:nvSpPr>
          <p:cNvPr id="17" name="Text 15"/>
          <p:cNvSpPr/>
          <p:nvPr/>
        </p:nvSpPr>
        <p:spPr>
          <a:xfrm>
            <a:off x="6400800" y="2971800"/>
            <a:ext cx="914400" cy="457200"/>
          </a:xfrm>
          <a:prstGeom prst="rect">
            <a:avLst/>
          </a:prstGeom>
          <a:noFill/>
          <a:ln/>
        </p:spPr>
        <p:txBody>
          <a:bodyPr wrap="square" rtlCol="0" anchor="ctr"/>
          <a:lstStyle/>
          <a:p>
            <a:pPr algn="ctr" indent="0" marL="0">
              <a:buNone/>
            </a:pPr>
            <a:r>
              <a:rPr lang="en-US" sz="1400" dirty="0">
                <a:solidFill>
                  <a:srgbClr val="64748B"/>
                </a:solidFill>
                <a:latin typeface="Georgia" pitchFamily="34" charset="0"/>
                <a:ea typeface="Georgia" pitchFamily="34" charset="-122"/>
                <a:cs typeface="Georgia" pitchFamily="34" charset="-120"/>
              </a:rPr>
              <a:t>51%</a:t>
            </a:r>
            <a:endParaRPr lang="en-US" sz="1400" dirty="0"/>
          </a:p>
        </p:txBody>
      </p:sp>
      <p:sp>
        <p:nvSpPr>
          <p:cNvPr id="18" name="Text 16"/>
          <p:cNvSpPr/>
          <p:nvPr/>
        </p:nvSpPr>
        <p:spPr>
          <a:xfrm>
            <a:off x="7315200" y="2971800"/>
            <a:ext cx="1097280" cy="45720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0.466</a:t>
            </a:r>
            <a:endParaRPr lang="en-US" sz="1200" dirty="0"/>
          </a:p>
        </p:txBody>
      </p:sp>
      <p:sp>
        <p:nvSpPr>
          <p:cNvPr id="19" name="Text 17"/>
          <p:cNvSpPr/>
          <p:nvPr/>
        </p:nvSpPr>
        <p:spPr>
          <a:xfrm>
            <a:off x="457200" y="4114800"/>
            <a:ext cx="8229600" cy="365760"/>
          </a:xfrm>
          <a:prstGeom prst="rect">
            <a:avLst/>
          </a:prstGeom>
          <a:noFill/>
          <a:ln/>
        </p:spPr>
        <p:txBody>
          <a:bodyPr wrap="square"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Why probe wins: learns component weights (L7H6 matters 20% more than others)</a:t>
            </a:r>
            <a:endParaRPr lang="en-US" sz="14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DEEP DIVE — Phase 2: Detection Results
CORE NARRATIVE (3-4 minutes):
THE DATASET:
"600 examples — 300 faithful, 300 unfaithful. Generated from two-digit addition. The faithful examples have correct intermediate steps. The unfaithful examples have deliberately wrong steps — but I construct them so the correct answer is still accessible from the surface form (the numbers in the question). That creates the behaviorally detectable signature: correct answer despite wrong CoT."
"The label is not 'got the right answer.' It's 'answer is consistent with CoT.' That's a harder and more safety-relevant distinction."
THREE DETECTION PATHS:
Path A (Linear Probe): Supervised. Extract last-token activations from all 23 key components, concatenate into a feature vector (~6,400 dimensions for attention heads at d_head=64 and MLPs at d_model=768), scale, train logistic regression.
Path B (Steering Vector): Unsupervised. Diff-of-means on the full residual stream at layer 6. Compute μ_faithful - μ_unfaithful, normalize, project new examples onto it.
Path C (Hybrid): Same diff-of-means, but only on the 23 Phase 1.5 components. This is the mechanistic validation test.
THE KEY COMPARISON IS C vs B:
"If C &gt; B, the circuit discovery added value — the causally-verified components carry more faithfulness signal than the undifferentiated residual stream. If C ≤ B, the circuits were noise."
RESULTS: Probe 88%/0.949 AUC. Steering vector 72%/0.786. Hybrid 51%/0.466.
"The probe wins because it learns component-specific weights. L7H6 gets coefficient weight ~20% higher than the next component. Diff-of-means treats every dimension equally and misses this — it dilutes the signal from high-weight components with noise from the others. That's why Path C underperforms Path B."
WHY LINEAR:
"The linear choice is principled. If faithfulness is linearly separable in circuit activation space, that means the circuits encode a genuine binary distinction — not a tangled manifold. A nonlinear model achieving the same accuracy wouldn't support that interpretation. Linear separability is the stronger claim."
LIKELY QUESTIONS:
Q: "Couldn't the probe just be learning surface features of the prompt format?"
A: "Possible — it's evaluated within-distribution. The failure analysis shows errors concentrate on large sums (80-100), suggesting some pattern. 88% is strong evidence but not proof of generalization. Cross-task validation is the right next step."
Q: "Why layer 6 for the steering vector?"
A: "Empirically chosen — layer 6 is in the zone where L5MLP and L6H6/L7H6 were active. You could ablate this by running at every layer and comparing AUCs. That's a legitimate future experiment."
</a:t>
              </a:r>
            </a:p>
          </p:txBody>
        </p:sp>
      </p:spTree>
    </p:cSld>
  </p:notes>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1E293B"/>
                </a:solidFill>
                <a:latin typeface="Georgia" pitchFamily="34" charset="0"/>
                <a:ea typeface="Georgia" pitchFamily="34" charset="-122"/>
                <a:cs typeface="Georgia" pitchFamily="34" charset="-120"/>
              </a:rPr>
              <a:t>L7H6: The Shortcut Head</a:t>
            </a:r>
            <a:endParaRPr lang="en-US" sz="36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One attention head dominates the probe's decision</a:t>
            </a:r>
            <a:endParaRPr lang="en-US" sz="1600" dirty="0"/>
          </a:p>
        </p:txBody>
      </p:sp>
      <p:sp>
        <p:nvSpPr>
          <p:cNvPr id="4" name="Text 2"/>
          <p:cNvSpPr/>
          <p:nvPr/>
        </p:nvSpPr>
        <p:spPr>
          <a:xfrm>
            <a:off x="457200" y="1463040"/>
            <a:ext cx="914400" cy="457200"/>
          </a:xfrm>
          <a:prstGeom prst="rect">
            <a:avLst/>
          </a:prstGeom>
          <a:noFill/>
          <a:ln/>
        </p:spPr>
        <p:txBody>
          <a:bodyPr wrap="square" rtlCol="0" anchor="ctr"/>
          <a:lstStyle/>
          <a:p>
            <a:pPr indent="0" marL="0">
              <a:buNone/>
            </a:pPr>
            <a:r>
              <a:rPr lang="en-US" sz="1400" b="1" dirty="0">
                <a:solidFill>
                  <a:srgbClr val="1E293B"/>
                </a:solidFill>
                <a:latin typeface="Consolas" pitchFamily="34" charset="0"/>
                <a:ea typeface="Consolas" pitchFamily="34" charset="-122"/>
                <a:cs typeface="Consolas" pitchFamily="34" charset="-120"/>
              </a:rPr>
              <a:t>L7H6</a:t>
            </a:r>
            <a:endParaRPr lang="en-US" sz="1400" dirty="0"/>
          </a:p>
        </p:txBody>
      </p:sp>
      <p:sp>
        <p:nvSpPr>
          <p:cNvPr id="5" name="Shape 3"/>
          <p:cNvSpPr/>
          <p:nvPr/>
        </p:nvSpPr>
        <p:spPr>
          <a:xfrm>
            <a:off x="1463040" y="1554480"/>
            <a:ext cx="4878324" cy="320040"/>
          </a:xfrm>
          <a:prstGeom prst="rect">
            <a:avLst/>
          </a:prstGeom>
          <a:solidFill>
            <a:srgbClr val="F97316"/>
          </a:solidFill>
          <a:ln/>
        </p:spPr>
      </p:sp>
      <p:sp>
        <p:nvSpPr>
          <p:cNvPr id="6" name="Text 4"/>
          <p:cNvSpPr/>
          <p:nvPr/>
        </p:nvSpPr>
        <p:spPr>
          <a:xfrm>
            <a:off x="6432804" y="1463040"/>
            <a:ext cx="731520" cy="45720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0.097</a:t>
            </a:r>
            <a:endParaRPr lang="en-US" sz="1200" dirty="0"/>
          </a:p>
        </p:txBody>
      </p:sp>
      <p:sp>
        <p:nvSpPr>
          <p:cNvPr id="7" name="Text 5"/>
          <p:cNvSpPr/>
          <p:nvPr/>
        </p:nvSpPr>
        <p:spPr>
          <a:xfrm>
            <a:off x="457200" y="2103120"/>
            <a:ext cx="914400" cy="457200"/>
          </a:xfrm>
          <a:prstGeom prst="rect">
            <a:avLst/>
          </a:prstGeom>
          <a:noFill/>
          <a:ln/>
        </p:spPr>
        <p:txBody>
          <a:bodyPr wrap="square" rtlCol="0" anchor="ctr"/>
          <a:lstStyle/>
          <a:p>
            <a:pPr indent="0" marL="0">
              <a:buNone/>
            </a:pPr>
            <a:r>
              <a:rPr lang="en-US" sz="1400" dirty="0">
                <a:solidFill>
                  <a:srgbClr val="1E293B"/>
                </a:solidFill>
                <a:latin typeface="Consolas" pitchFamily="34" charset="0"/>
                <a:ea typeface="Consolas" pitchFamily="34" charset="-122"/>
                <a:cs typeface="Consolas" pitchFamily="34" charset="-120"/>
              </a:rPr>
              <a:t>L5H9</a:t>
            </a:r>
            <a:endParaRPr lang="en-US" sz="1400" dirty="0"/>
          </a:p>
        </p:txBody>
      </p:sp>
      <p:sp>
        <p:nvSpPr>
          <p:cNvPr id="8" name="Shape 6"/>
          <p:cNvSpPr/>
          <p:nvPr/>
        </p:nvSpPr>
        <p:spPr>
          <a:xfrm>
            <a:off x="1463040" y="2194560"/>
            <a:ext cx="4123944" cy="320040"/>
          </a:xfrm>
          <a:prstGeom prst="rect">
            <a:avLst/>
          </a:prstGeom>
          <a:solidFill>
            <a:srgbClr val="065A82"/>
          </a:solidFill>
          <a:ln/>
        </p:spPr>
      </p:sp>
      <p:sp>
        <p:nvSpPr>
          <p:cNvPr id="9" name="Text 7"/>
          <p:cNvSpPr/>
          <p:nvPr/>
        </p:nvSpPr>
        <p:spPr>
          <a:xfrm>
            <a:off x="5678424" y="2103120"/>
            <a:ext cx="731520" cy="45720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0.082</a:t>
            </a:r>
            <a:endParaRPr lang="en-US" sz="1200" dirty="0"/>
          </a:p>
        </p:txBody>
      </p:sp>
      <p:sp>
        <p:nvSpPr>
          <p:cNvPr id="10" name="Text 8"/>
          <p:cNvSpPr/>
          <p:nvPr/>
        </p:nvSpPr>
        <p:spPr>
          <a:xfrm>
            <a:off x="457200" y="2743200"/>
            <a:ext cx="914400" cy="457200"/>
          </a:xfrm>
          <a:prstGeom prst="rect">
            <a:avLst/>
          </a:prstGeom>
          <a:noFill/>
          <a:ln/>
        </p:spPr>
        <p:txBody>
          <a:bodyPr wrap="square" rtlCol="0" anchor="ctr"/>
          <a:lstStyle/>
          <a:p>
            <a:pPr indent="0" marL="0">
              <a:buNone/>
            </a:pPr>
            <a:r>
              <a:rPr lang="en-US" sz="1400" dirty="0">
                <a:solidFill>
                  <a:srgbClr val="1E293B"/>
                </a:solidFill>
                <a:latin typeface="Consolas" pitchFamily="34" charset="0"/>
                <a:ea typeface="Consolas" pitchFamily="34" charset="-122"/>
                <a:cs typeface="Consolas" pitchFamily="34" charset="-120"/>
              </a:rPr>
              <a:t>L6H8</a:t>
            </a:r>
            <a:endParaRPr lang="en-US" sz="1400" dirty="0"/>
          </a:p>
        </p:txBody>
      </p:sp>
      <p:sp>
        <p:nvSpPr>
          <p:cNvPr id="11" name="Shape 9"/>
          <p:cNvSpPr/>
          <p:nvPr/>
        </p:nvSpPr>
        <p:spPr>
          <a:xfrm>
            <a:off x="1463040" y="2834640"/>
            <a:ext cx="4123944" cy="320040"/>
          </a:xfrm>
          <a:prstGeom prst="rect">
            <a:avLst/>
          </a:prstGeom>
          <a:solidFill>
            <a:srgbClr val="065A82"/>
          </a:solidFill>
          <a:ln/>
        </p:spPr>
      </p:sp>
      <p:sp>
        <p:nvSpPr>
          <p:cNvPr id="12" name="Text 10"/>
          <p:cNvSpPr/>
          <p:nvPr/>
        </p:nvSpPr>
        <p:spPr>
          <a:xfrm>
            <a:off x="5678424" y="2743200"/>
            <a:ext cx="731520" cy="45720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0.082</a:t>
            </a:r>
            <a:endParaRPr lang="en-US" sz="1200" dirty="0"/>
          </a:p>
        </p:txBody>
      </p:sp>
      <p:sp>
        <p:nvSpPr>
          <p:cNvPr id="13" name="Text 11"/>
          <p:cNvSpPr/>
          <p:nvPr/>
        </p:nvSpPr>
        <p:spPr>
          <a:xfrm>
            <a:off x="457200" y="3383280"/>
            <a:ext cx="914400" cy="457200"/>
          </a:xfrm>
          <a:prstGeom prst="rect">
            <a:avLst/>
          </a:prstGeom>
          <a:noFill/>
          <a:ln/>
        </p:spPr>
        <p:txBody>
          <a:bodyPr wrap="square" rtlCol="0" anchor="ctr"/>
          <a:lstStyle/>
          <a:p>
            <a:pPr indent="0" marL="0">
              <a:buNone/>
            </a:pPr>
            <a:r>
              <a:rPr lang="en-US" sz="1400" dirty="0">
                <a:solidFill>
                  <a:srgbClr val="1E293B"/>
                </a:solidFill>
                <a:latin typeface="Consolas" pitchFamily="34" charset="0"/>
                <a:ea typeface="Consolas" pitchFamily="34" charset="-122"/>
                <a:cs typeface="Consolas" pitchFamily="34" charset="-120"/>
              </a:rPr>
              <a:t>L2MLP</a:t>
            </a:r>
            <a:endParaRPr lang="en-US" sz="1400" dirty="0"/>
          </a:p>
        </p:txBody>
      </p:sp>
      <p:sp>
        <p:nvSpPr>
          <p:cNvPr id="14" name="Shape 12"/>
          <p:cNvSpPr/>
          <p:nvPr/>
        </p:nvSpPr>
        <p:spPr>
          <a:xfrm>
            <a:off x="1463040" y="3474720"/>
            <a:ext cx="3922776" cy="320040"/>
          </a:xfrm>
          <a:prstGeom prst="rect">
            <a:avLst/>
          </a:prstGeom>
          <a:solidFill>
            <a:srgbClr val="065A82"/>
          </a:solidFill>
          <a:ln/>
        </p:spPr>
      </p:sp>
      <p:sp>
        <p:nvSpPr>
          <p:cNvPr id="15" name="Text 13"/>
          <p:cNvSpPr/>
          <p:nvPr/>
        </p:nvSpPr>
        <p:spPr>
          <a:xfrm>
            <a:off x="5477256" y="3383280"/>
            <a:ext cx="731520" cy="45720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0.078</a:t>
            </a:r>
            <a:endParaRPr lang="en-US" sz="1200" dirty="0"/>
          </a:p>
        </p:txBody>
      </p:sp>
      <p:sp>
        <p:nvSpPr>
          <p:cNvPr id="16" name="Text 14"/>
          <p:cNvSpPr/>
          <p:nvPr/>
        </p:nvSpPr>
        <p:spPr>
          <a:xfrm>
            <a:off x="457200" y="4023360"/>
            <a:ext cx="914400" cy="457200"/>
          </a:xfrm>
          <a:prstGeom prst="rect">
            <a:avLst/>
          </a:prstGeom>
          <a:noFill/>
          <a:ln/>
        </p:spPr>
        <p:txBody>
          <a:bodyPr wrap="square" rtlCol="0" anchor="ctr"/>
          <a:lstStyle/>
          <a:p>
            <a:pPr indent="0" marL="0">
              <a:buNone/>
            </a:pPr>
            <a:r>
              <a:rPr lang="en-US" sz="1400" dirty="0">
                <a:solidFill>
                  <a:srgbClr val="1E293B"/>
                </a:solidFill>
                <a:latin typeface="Consolas" pitchFamily="34" charset="0"/>
                <a:ea typeface="Consolas" pitchFamily="34" charset="-122"/>
                <a:cs typeface="Consolas" pitchFamily="34" charset="-120"/>
              </a:rPr>
              <a:t>L0H6</a:t>
            </a:r>
            <a:endParaRPr lang="en-US" sz="1400" dirty="0"/>
          </a:p>
        </p:txBody>
      </p:sp>
      <p:sp>
        <p:nvSpPr>
          <p:cNvPr id="17" name="Shape 15"/>
          <p:cNvSpPr/>
          <p:nvPr/>
        </p:nvSpPr>
        <p:spPr>
          <a:xfrm>
            <a:off x="1463040" y="4114800"/>
            <a:ext cx="3771900" cy="320040"/>
          </a:xfrm>
          <a:prstGeom prst="rect">
            <a:avLst/>
          </a:prstGeom>
          <a:solidFill>
            <a:srgbClr val="065A82"/>
          </a:solidFill>
          <a:ln/>
        </p:spPr>
      </p:sp>
      <p:sp>
        <p:nvSpPr>
          <p:cNvPr id="18" name="Text 16"/>
          <p:cNvSpPr/>
          <p:nvPr/>
        </p:nvSpPr>
        <p:spPr>
          <a:xfrm>
            <a:off x="5326380" y="4023360"/>
            <a:ext cx="731520" cy="45720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0.075</a:t>
            </a:r>
            <a:endParaRPr lang="en-US" sz="1200" dirty="0"/>
          </a:p>
        </p:txBody>
      </p:sp>
      <p:sp>
        <p:nvSpPr>
          <p:cNvPr id="19" name="Shape 17"/>
          <p:cNvSpPr/>
          <p:nvPr/>
        </p:nvSpPr>
        <p:spPr>
          <a:xfrm>
            <a:off x="457200" y="3931920"/>
            <a:ext cx="822960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457200" y="3931920"/>
            <a:ext cx="73152" cy="914400"/>
          </a:xfrm>
          <a:prstGeom prst="rect">
            <a:avLst/>
          </a:prstGeom>
          <a:solidFill>
            <a:srgbClr val="F97316"/>
          </a:solidFill>
          <a:ln/>
        </p:spPr>
      </p:sp>
      <p:sp>
        <p:nvSpPr>
          <p:cNvPr id="21" name="Text 19"/>
          <p:cNvSpPr/>
          <p:nvPr/>
        </p:nvSpPr>
        <p:spPr>
          <a:xfrm>
            <a:off x="640080" y="3931920"/>
            <a:ext cx="7863840" cy="914400"/>
          </a:xfrm>
          <a:prstGeom prst="rect">
            <a:avLst/>
          </a:prstGeom>
          <a:noFill/>
          <a:ln/>
        </p:spPr>
        <p:txBody>
          <a:bodyPr wrap="square"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When L7H6 activates strongly → model is bypassing its Chain-of-Thought</a:t>
            </a:r>
            <a:endParaRPr lang="en-US" sz="16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DEEP DIVE — L7H6: The Shortcut Head
CORE NARRATIVE (2-3 minutes):
"When I mapped the probe's logistic regression coefficients back to individual components, one dominated: L7H6. Its average absolute coefficient weight is 0.097 — about 18% higher than L5H9 and L6H8 at 0.082. That gap is meaningful at this scale."
WHAT L7H6 IS DOING:
"L7H6 is in layer 7 — the middle-to-late range. The faithful processing happens in early layers: L0H1 has restoration score +0.54, L0MLP is +4.34 (massively faithful). By layer 7, the model has already read and processed the CoT text. L7H6 activating strongly means the model is at the point of deciding whether to use that processed reasoning or bypass it — and it's choosing bypass."
THE MECHANISTIC STORY:
"Think of it as a decision gate. Early layers extract information from the CoT text. L7H6 appears to be part of the circuit that routes whether the final answer comes from 'follow the steps I just read' or 'retrieve the answer pattern directly from the input numbers.' When L7H6 activates, it tips the routing toward the shortcut pathway."
"This is exactly the kind of localized finding that mechanistic interpretability aims for — a specific, named component with a specific, named functional role."
CONNECTION TO DECEPTIVE ALIGNMENT:
"The broader implication: if you have L7H6-equivalent heads in a larger model, you could have a model that writes convincing CoT while L7H6 is routing the answer through a completely different pathway. The CoT becomes post-hoc rationalization rather than actual reasoning trace."
WHAT WE DON'T YET KNOW:
"I don't have a clean story for what Q, K, V matrices in L7H6 are attending to — that's head ablation / attention pattern analysis territory. The coefficient weight tells us it matters; it doesn't tell us the mechanism at the attention weight level."
LIKELY QUESTIONS:
Q: "How do you know L7H6 is the shortcut head and not just a head that's active on arithmetic generally?"
A: "The contrastive patching score for L7H6 is -0.329 — negative restoration. That means when I patch L7H6 with clean activations, the model becomes *less* able to get the correct answer in the corrupted condition. L7H6 is specifically helping the model bypass the corrupted CoT and reach the correct answer anyway. That's the shortcut signature."
</a:t>
              </a:r>
            </a:p>
          </p:txBody>
        </p:sp>
      </p:spTree>
    </p:cSld>
  </p:notes>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F97316"/>
                </a:solidFill>
                <a:latin typeface="Georgia" pitchFamily="34" charset="0"/>
                <a:ea typeface="Georgia" pitchFamily="34" charset="-122"/>
                <a:cs typeface="Georgia" pitchFamily="34" charset="-120"/>
              </a:rPr>
              <a:t>What Didn't Work</a:t>
            </a:r>
            <a:endParaRPr lang="en-US" sz="3600" dirty="0"/>
          </a:p>
        </p:txBody>
      </p:sp>
      <p:sp>
        <p:nvSpPr>
          <p:cNvPr id="3" name="Shape 1"/>
          <p:cNvSpPr/>
          <p:nvPr/>
        </p:nvSpPr>
        <p:spPr>
          <a:xfrm>
            <a:off x="457200" y="1097280"/>
            <a:ext cx="822960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Text 2"/>
          <p:cNvSpPr/>
          <p:nvPr/>
        </p:nvSpPr>
        <p:spPr>
          <a:xfrm>
            <a:off x="640080" y="1280160"/>
            <a:ext cx="7863840" cy="457200"/>
          </a:xfrm>
          <a:prstGeom prst="rect">
            <a:avLst/>
          </a:prstGeom>
          <a:noFill/>
          <a:ln/>
        </p:spPr>
        <p:txBody>
          <a:bodyPr wrap="square" rtlCol="0" anchor="ctr"/>
          <a:lstStyle/>
          <a:p>
            <a:pPr indent="0" marL="0">
              <a:buNone/>
            </a:pPr>
            <a:r>
              <a:rPr lang="en-US" sz="1800" b="1" dirty="0">
                <a:solidFill>
                  <a:srgbClr val="F97316"/>
                </a:solidFill>
                <a:latin typeface="Calibri" pitchFamily="34" charset="0"/>
                <a:ea typeface="Calibri" pitchFamily="34" charset="-122"/>
                <a:cs typeface="Calibri" pitchFamily="34" charset="-120"/>
              </a:rPr>
              <a:t>Intervention Experiments: 0% Success</a:t>
            </a:r>
            <a:endParaRPr lang="en-US" sz="1800" dirty="0"/>
          </a:p>
        </p:txBody>
      </p:sp>
      <p:sp>
        <p:nvSpPr>
          <p:cNvPr id="5" name="Text 3"/>
          <p:cNvSpPr/>
          <p:nvPr/>
        </p:nvSpPr>
        <p:spPr>
          <a:xfrm>
            <a:off x="640080" y="1737360"/>
            <a:ext cx="7863840" cy="36576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Hypothesis: Ablating L7H6 should make model follow (wrong) CoT instead of computing correct answer</a:t>
            </a:r>
            <a:endParaRPr lang="en-US" sz="1400" dirty="0"/>
          </a:p>
        </p:txBody>
      </p:sp>
      <p:sp>
        <p:nvSpPr>
          <p:cNvPr id="6" name="Text 4"/>
          <p:cNvSpPr/>
          <p:nvPr/>
        </p:nvSpPr>
        <p:spPr>
          <a:xfrm>
            <a:off x="640080" y="2194560"/>
            <a:ext cx="7863840" cy="365760"/>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Reality: Baseline accuracy = 0%. GPT-2 can't do arithmetic at all.</a:t>
            </a:r>
            <a:endParaRPr lang="en-US" sz="1400" dirty="0"/>
          </a:p>
        </p:txBody>
      </p:sp>
      <p:sp>
        <p:nvSpPr>
          <p:cNvPr id="7" name="Shape 5"/>
          <p:cNvSpPr/>
          <p:nvPr/>
        </p:nvSpPr>
        <p:spPr>
          <a:xfrm>
            <a:off x="457200" y="3108960"/>
            <a:ext cx="8229600" cy="1463040"/>
          </a:xfrm>
          <a:prstGeom prst="rect">
            <a:avLst/>
          </a:prstGeom>
          <a:solidFill>
            <a:srgbClr val="1E2761"/>
          </a:solidFill>
          <a:ln/>
        </p:spPr>
      </p:sp>
      <p:sp>
        <p:nvSpPr>
          <p:cNvPr id="8" name="Text 6"/>
          <p:cNvSpPr/>
          <p:nvPr/>
        </p:nvSpPr>
        <p:spPr>
          <a:xfrm>
            <a:off x="640080" y="3200400"/>
            <a:ext cx="7863840" cy="1280160"/>
          </a:xfrm>
          <a:prstGeom prst="rect">
            <a:avLst/>
          </a:prstGeom>
          <a:noFill/>
          <a:ln/>
        </p:spPr>
        <p:txBody>
          <a:bodyPr wrap="square"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Prompt: "Q: What is 23+45? A:"</a:t>
            </a:r>
            <a:endParaRPr lang="en-US" sz="1200" dirty="0"/>
          </a:p>
          <a:p>
            <a:pPr indent="0" marL="0">
              <a:buNone/>
            </a:pP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Top tokens:  " 23" (6.9%), " The" (5.7%), " This" (4.3%)</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P(" 68"):    0.01%</a:t>
            </a:r>
            <a:endParaRPr lang="en-US" sz="1200" dirty="0"/>
          </a:p>
          <a:p>
            <a:pPr indent="0" marL="0">
              <a:buNone/>
            </a:pP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Actual output: "23+45 is a unit of measurement..."</a:t>
            </a:r>
            <a:endParaRPr lang="en-US" sz="12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DEEP DIVE — What Didn't Work
CORE NARRATIVE (2 minutes):
"I want to be direct about this because it's actually informative, not just a failure."
THE HYPOTHESIS:
"If L7H6 is the shortcut head, ablating it should make the model more faithful to its CoT — including its wrong CoT. With wrong intermediate steps, a faithfully-following model should output the wrong answer. With L7H6 ablated, I expected to shift behavior from 'correct answer despite wrong CoT' toward 'wrong answer consistent with wrong CoT.'"
THE RESULT:
"Baseline accuracy was 0%. Not 0% shift from ablation — literally 0% of the time did GPT-2 Small output the correct numerical answer for 23+45. Look at the diagnostic: top tokens are ' 23' (echoing the input at 6.9%), 'The', 'This'. The probability of the correct answer '68' is 0.01%. The model generates 'is a unit of measurement' — it has no arithmetic capability whatsoever."
WHY THIS IS NOT A METHODOLOGY FAILURE:
"Hanna et al. at NeurIPS 2023 documented exactly this: GPT-2 is less capable than larger LMs on mathematical tasks. They had to craft a special task to elicit mathematical behavior at all. This isn't surprising — GPT-2 was trained in 2019 without RLHF or instruction tuning."
WHAT REMAINS VALID:
"The detection result is fully intact — 88% accuracy means the probe is finding a real signal in the activations, regardless of whether GPT-2 can do arithmetic. The circuits are real — activation patching showed causal effects. The dataset design is sound. We just need a model with arithmetic ability to test the intervention."
THE HONEST FRAMING:
"I'd rather report this cleanly than hide it. A result I can defend is worth more than a result I can't explain."
</a:t>
              </a:r>
            </a:p>
          </p:txBody>
        </p:sp>
      </p:spTree>
    </p:cSld>
  </p:notes>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Known Limitation, Not Methodology Flaw</a:t>
            </a:r>
            <a:endParaRPr lang="en-US" sz="3200" dirty="0"/>
          </a:p>
        </p:txBody>
      </p:sp>
      <p:sp>
        <p:nvSpPr>
          <p:cNvPr id="3" name="Shape 1"/>
          <p:cNvSpPr/>
          <p:nvPr/>
        </p:nvSpPr>
        <p:spPr>
          <a:xfrm>
            <a:off x="457200" y="1097280"/>
            <a:ext cx="822960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Text 2"/>
          <p:cNvSpPr/>
          <p:nvPr/>
        </p:nvSpPr>
        <p:spPr>
          <a:xfrm>
            <a:off x="640080" y="1280160"/>
            <a:ext cx="7863840" cy="914400"/>
          </a:xfrm>
          <a:prstGeom prst="rect">
            <a:avLst/>
          </a:prstGeom>
          <a:noFill/>
          <a:ln/>
        </p:spPr>
        <p:txBody>
          <a:bodyPr wrap="square" rtlCol="0" anchor="ctr"/>
          <a:lstStyle/>
          <a:p>
            <a:pPr indent="0" marL="0">
              <a:buNone/>
            </a:pPr>
            <a:r>
              <a:rPr lang="en-US" sz="1400" i="1" dirty="0">
                <a:solidFill>
                  <a:srgbClr val="1E293B"/>
                </a:solidFill>
                <a:latin typeface="Georgia" pitchFamily="34" charset="0"/>
                <a:ea typeface="Georgia" pitchFamily="34" charset="-122"/>
                <a:cs typeface="Georgia" pitchFamily="34" charset="-120"/>
              </a:rPr>
              <a:t>"GPT-2 is less capable than larger LMs, which still often struggle with mathematical tasks... With this in mind, we craft a simple task to elicit a mathematical behavior."</a:t>
            </a:r>
            <a:endParaRPr lang="en-US" sz="1400" dirty="0"/>
          </a:p>
        </p:txBody>
      </p:sp>
      <p:sp>
        <p:nvSpPr>
          <p:cNvPr id="5" name="Text 3"/>
          <p:cNvSpPr/>
          <p:nvPr/>
        </p:nvSpPr>
        <p:spPr>
          <a:xfrm>
            <a:off x="640080" y="2103120"/>
            <a:ext cx="7863840" cy="365760"/>
          </a:xfrm>
          <a:prstGeom prst="rect">
            <a:avLst/>
          </a:prstGeom>
          <a:noFill/>
          <a:ln/>
        </p:spPr>
        <p:txBody>
          <a:bodyPr wrap="square"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 Hanna et al., NeurIPS 2023</a:t>
            </a:r>
            <a:endParaRPr lang="en-US" sz="1200" dirty="0"/>
          </a:p>
        </p:txBody>
      </p:sp>
      <p:sp>
        <p:nvSpPr>
          <p:cNvPr id="6" name="Text 4"/>
          <p:cNvSpPr/>
          <p:nvPr/>
        </p:nvSpPr>
        <p:spPr>
          <a:xfrm>
            <a:off x="457200" y="2834640"/>
            <a:ext cx="8229600" cy="36576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What's still valid:</a:t>
            </a:r>
            <a:endParaRPr lang="en-US" sz="1800" dirty="0"/>
          </a:p>
        </p:txBody>
      </p:sp>
      <p:sp>
        <p:nvSpPr>
          <p:cNvPr id="7" name="Text 5"/>
          <p:cNvSpPr/>
          <p:nvPr/>
        </p:nvSpPr>
        <p:spPr>
          <a:xfrm>
            <a:off x="640080" y="3200400"/>
            <a:ext cx="7863840" cy="365760"/>
          </a:xfrm>
          <a:prstGeom prst="rect">
            <a:avLst/>
          </a:prstGeom>
          <a:noFill/>
          <a:ln/>
        </p:spPr>
        <p:txBody>
          <a:bodyPr wrap="square"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 xml:space="preserve">✓ </a:t>
            </a:r>
            <a:pPr indent="0" marL="0">
              <a:buNone/>
            </a:pPr>
            <a:r>
              <a:rPr lang="en-US" sz="1400" dirty="0">
                <a:solidFill>
                  <a:srgbClr val="1E293B"/>
                </a:solidFill>
                <a:latin typeface="Calibri" pitchFamily="34" charset="0"/>
                <a:ea typeface="Calibri" pitchFamily="34" charset="-122"/>
                <a:cs typeface="Calibri" pitchFamily="34" charset="-120"/>
              </a:rPr>
              <a:t>Detection works — 88% accuracy on activation patterns</a:t>
            </a:r>
            <a:endParaRPr lang="en-US" sz="1400" dirty="0"/>
          </a:p>
        </p:txBody>
      </p:sp>
      <p:sp>
        <p:nvSpPr>
          <p:cNvPr id="8" name="Text 6"/>
          <p:cNvSpPr/>
          <p:nvPr/>
        </p:nvSpPr>
        <p:spPr>
          <a:xfrm>
            <a:off x="640080" y="3611880"/>
            <a:ext cx="7863840" cy="365760"/>
          </a:xfrm>
          <a:prstGeom prst="rect">
            <a:avLst/>
          </a:prstGeom>
          <a:noFill/>
          <a:ln/>
        </p:spPr>
        <p:txBody>
          <a:bodyPr wrap="square"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 xml:space="preserve">✓ </a:t>
            </a:r>
            <a:pPr indent="0" marL="0">
              <a:buNone/>
            </a:pPr>
            <a:r>
              <a:rPr lang="en-US" sz="1400" dirty="0">
                <a:solidFill>
                  <a:srgbClr val="1E293B"/>
                </a:solidFill>
                <a:latin typeface="Calibri" pitchFamily="34" charset="0"/>
                <a:ea typeface="Calibri" pitchFamily="34" charset="-122"/>
                <a:cs typeface="Calibri" pitchFamily="34" charset="-120"/>
              </a:rPr>
              <a:t>Circuit identification — 23 components localized</a:t>
            </a:r>
            <a:endParaRPr lang="en-US" sz="1400" dirty="0"/>
          </a:p>
        </p:txBody>
      </p:sp>
      <p:sp>
        <p:nvSpPr>
          <p:cNvPr id="9" name="Text 7"/>
          <p:cNvSpPr/>
          <p:nvPr/>
        </p:nvSpPr>
        <p:spPr>
          <a:xfrm>
            <a:off x="640080" y="4023360"/>
            <a:ext cx="7863840" cy="365760"/>
          </a:xfrm>
          <a:prstGeom prst="rect">
            <a:avLst/>
          </a:prstGeom>
          <a:noFill/>
          <a:ln/>
        </p:spPr>
        <p:txBody>
          <a:bodyPr wrap="square"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 xml:space="preserve">✓ </a:t>
            </a:r>
            <a:pPr indent="0" marL="0">
              <a:buNone/>
            </a:pPr>
            <a:r>
              <a:rPr lang="en-US" sz="1400" dirty="0">
                <a:solidFill>
                  <a:srgbClr val="1E293B"/>
                </a:solidFill>
                <a:latin typeface="Calibri" pitchFamily="34" charset="0"/>
                <a:ea typeface="Calibri" pitchFamily="34" charset="-122"/>
                <a:cs typeface="Calibri" pitchFamily="34" charset="-120"/>
              </a:rPr>
              <a:t>Dataset design — novel contrastive pairs with ground-truth labels</a:t>
            </a:r>
            <a:endParaRPr lang="en-US" sz="14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DEEP DIVE — Known Limitation, Not Methodology Flaw
CORE NARRATIVE (1-2 minutes):
THE HANNA ET AL. CITATION:
"This quote is from their paper on the greater-than circuit in GPT-2. They explicitly noted the model's arithmetic limitations before designing around them. I was aware of this literature — the GPT-2 arithmetic failure is well-documented. What I didn't fully appreciate until running the intervention experiments was the extent to which baseline performance was zero, not just low."
WHAT TRANSFERS VS WHAT DOESN'T:
What transfers to a capable model:
- The activation patching methodology — hook_z, contrastive pairs, restoration scoring
- The dataset design — contrastive pairs with ground-truth faithfulness labels
- The linear probe framework — same architecture, different model's activations
- The circuit classification schema — faithful/shortcut/harmful
What needs re-running:
- The specific head identifications (L7H6 etc.) — these are GPT-2-specific
- The restoration score magnitudes
- The intervention experiments — this is the key missing piece
THE POSITIVE FRAME:
"What we have is a complete methodology that's been validated on a testbed model, with a clear roadmap to the experiments that matter. The 88% detection result is real and meaningful. The circuits are real. The next step is running the same pipeline on Qwen2.5-Math or Gemma 3 12B — models that can actually do arithmetic — and testing whether ablating the equivalent of L7H6 shifts behavior."
LIKELY QUESTION:
Q: "Did you know GPT-2 couldn't do arithmetic before you started?"
A: "I was aware of the literature, but I underestimated the severity. The detection experiments didn't require arithmetic capability — the model just needs to process the CoT text and exhibit differential activation patterns for faithful vs unfaithful prompts, which it does. The intervention experiments do require arithmetic capability, and that's where the limitation bit."
</a:t>
              </a:r>
            </a:p>
          </p:txBody>
        </p:sp>
      </p:spTree>
    </p:cSld>
  </p:notes>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Path Forward</a:t>
            </a:r>
            <a:endParaRPr lang="en-US" sz="3600" dirty="0"/>
          </a:p>
        </p:txBody>
      </p:sp>
      <p:sp>
        <p:nvSpPr>
          <p:cNvPr id="3" name="Shape 1"/>
          <p:cNvSpPr/>
          <p:nvPr/>
        </p:nvSpPr>
        <p:spPr>
          <a:xfrm>
            <a:off x="457200" y="1097280"/>
            <a:ext cx="2651760" cy="201168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4" name="Text 2"/>
          <p:cNvSpPr/>
          <p:nvPr/>
        </p:nvSpPr>
        <p:spPr>
          <a:xfrm>
            <a:off x="457200" y="1188720"/>
            <a:ext cx="2651760" cy="731520"/>
          </a:xfrm>
          <a:prstGeom prst="rect">
            <a:avLst/>
          </a:prstGeom>
          <a:noFill/>
          <a:ln/>
        </p:spPr>
        <p:txBody>
          <a:bodyPr wrap="square" rtlCol="0" anchor="ctr"/>
          <a:lstStyle/>
          <a:p>
            <a:pPr algn="ctr" indent="0" marL="0">
              <a:buNone/>
            </a:pPr>
            <a:r>
              <a:rPr lang="en-US" sz="3200" b="1" dirty="0">
                <a:solidFill>
                  <a:srgbClr val="14B8A6"/>
                </a:solidFill>
                <a:latin typeface="Georgia" pitchFamily="34" charset="0"/>
                <a:ea typeface="Georgia" pitchFamily="34" charset="-122"/>
                <a:cs typeface="Georgia" pitchFamily="34" charset="-120"/>
              </a:rPr>
              <a:t>7B</a:t>
            </a:r>
            <a:endParaRPr lang="en-US" sz="3200" dirty="0"/>
          </a:p>
        </p:txBody>
      </p:sp>
      <p:sp>
        <p:nvSpPr>
          <p:cNvPr id="5" name="Text 3"/>
          <p:cNvSpPr/>
          <p:nvPr/>
        </p:nvSpPr>
        <p:spPr>
          <a:xfrm>
            <a:off x="457200" y="1920240"/>
            <a:ext cx="265176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Qwen2.5-Math</a:t>
            </a:r>
            <a:endParaRPr lang="en-US" sz="1600" dirty="0"/>
          </a:p>
        </p:txBody>
      </p:sp>
      <p:sp>
        <p:nvSpPr>
          <p:cNvPr id="6" name="Text 4"/>
          <p:cNvSpPr/>
          <p:nvPr/>
        </p:nvSpPr>
        <p:spPr>
          <a:xfrm>
            <a:off x="548640" y="2377440"/>
            <a:ext cx="2468880" cy="64008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85% MATH benchmark</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Can actually do arithmetic</a:t>
            </a:r>
            <a:endParaRPr lang="en-US" sz="1200" dirty="0"/>
          </a:p>
        </p:txBody>
      </p:sp>
      <p:sp>
        <p:nvSpPr>
          <p:cNvPr id="7" name="Shape 5"/>
          <p:cNvSpPr/>
          <p:nvPr/>
        </p:nvSpPr>
        <p:spPr>
          <a:xfrm>
            <a:off x="3291840" y="1097280"/>
            <a:ext cx="2651760" cy="201168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8" name="Text 6"/>
          <p:cNvSpPr/>
          <p:nvPr/>
        </p:nvSpPr>
        <p:spPr>
          <a:xfrm>
            <a:off x="3291840" y="1188720"/>
            <a:ext cx="2651760" cy="731520"/>
          </a:xfrm>
          <a:prstGeom prst="rect">
            <a:avLst/>
          </a:prstGeom>
          <a:noFill/>
          <a:ln/>
        </p:spPr>
        <p:txBody>
          <a:bodyPr wrap="square" rtlCol="0" anchor="ctr"/>
          <a:lstStyle/>
          <a:p>
            <a:pPr algn="ctr" indent="0" marL="0">
              <a:buNone/>
            </a:pPr>
            <a:r>
              <a:rPr lang="en-US" sz="3200" b="1" dirty="0">
                <a:solidFill>
                  <a:srgbClr val="14B8A6"/>
                </a:solidFill>
                <a:latin typeface="Georgia" pitchFamily="34" charset="0"/>
                <a:ea typeface="Georgia" pitchFamily="34" charset="-122"/>
                <a:cs typeface="Georgia" pitchFamily="34" charset="-120"/>
              </a:rPr>
              <a:t>32B</a:t>
            </a:r>
            <a:endParaRPr lang="en-US" sz="3200" dirty="0"/>
          </a:p>
        </p:txBody>
      </p:sp>
      <p:sp>
        <p:nvSpPr>
          <p:cNvPr id="9" name="Text 7"/>
          <p:cNvSpPr/>
          <p:nvPr/>
        </p:nvSpPr>
        <p:spPr>
          <a:xfrm>
            <a:off x="3291840" y="1920240"/>
            <a:ext cx="265176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QwQ-32B</a:t>
            </a:r>
            <a:endParaRPr lang="en-US" sz="1600" dirty="0"/>
          </a:p>
        </p:txBody>
      </p:sp>
      <p:sp>
        <p:nvSpPr>
          <p:cNvPr id="10" name="Text 8"/>
          <p:cNvSpPr/>
          <p:nvPr/>
        </p:nvSpPr>
        <p:spPr>
          <a:xfrm>
            <a:off x="3383280" y="2377440"/>
            <a:ext cx="2468880" cy="64008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90% MATH-500</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Reasoning model</a:t>
            </a:r>
            <a:endParaRPr lang="en-US" sz="1200" dirty="0"/>
          </a:p>
        </p:txBody>
      </p:sp>
      <p:sp>
        <p:nvSpPr>
          <p:cNvPr id="11" name="Shape 9"/>
          <p:cNvSpPr/>
          <p:nvPr/>
        </p:nvSpPr>
        <p:spPr>
          <a:xfrm>
            <a:off x="6126480" y="1097280"/>
            <a:ext cx="2651760" cy="201168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12" name="Text 10"/>
          <p:cNvSpPr/>
          <p:nvPr/>
        </p:nvSpPr>
        <p:spPr>
          <a:xfrm>
            <a:off x="6126480" y="1188720"/>
            <a:ext cx="2651760" cy="731520"/>
          </a:xfrm>
          <a:prstGeom prst="rect">
            <a:avLst/>
          </a:prstGeom>
          <a:noFill/>
          <a:ln/>
        </p:spPr>
        <p:txBody>
          <a:bodyPr wrap="square" rtlCol="0" anchor="ctr"/>
          <a:lstStyle/>
          <a:p>
            <a:pPr algn="ctr" indent="0" marL="0">
              <a:buNone/>
            </a:pPr>
            <a:r>
              <a:rPr lang="en-US" sz="3200" b="1" dirty="0">
                <a:solidFill>
                  <a:srgbClr val="14B8A6"/>
                </a:solidFill>
                <a:latin typeface="Georgia" pitchFamily="34" charset="0"/>
                <a:ea typeface="Georgia" pitchFamily="34" charset="-122"/>
                <a:cs typeface="Georgia" pitchFamily="34" charset="-120"/>
              </a:rPr>
              <a:t>→</a:t>
            </a:r>
            <a:endParaRPr lang="en-US" sz="3200" dirty="0"/>
          </a:p>
        </p:txBody>
      </p:sp>
      <p:sp>
        <p:nvSpPr>
          <p:cNvPr id="13" name="Text 11"/>
          <p:cNvSpPr/>
          <p:nvPr/>
        </p:nvSpPr>
        <p:spPr>
          <a:xfrm>
            <a:off x="6126480" y="1920240"/>
            <a:ext cx="265176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Intervention</a:t>
            </a:r>
            <a:endParaRPr lang="en-US" sz="1600" dirty="0"/>
          </a:p>
        </p:txBody>
      </p:sp>
      <p:sp>
        <p:nvSpPr>
          <p:cNvPr id="14" name="Text 12"/>
          <p:cNvSpPr/>
          <p:nvPr/>
        </p:nvSpPr>
        <p:spPr>
          <a:xfrm>
            <a:off x="6217920" y="2377440"/>
            <a:ext cx="2468880" cy="64008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Test L7H6 ablation</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with measurable outputs</a:t>
            </a:r>
            <a:endParaRPr lang="en-US" sz="1200" dirty="0"/>
          </a:p>
        </p:txBody>
      </p:sp>
      <p:sp>
        <p:nvSpPr>
          <p:cNvPr id="15" name="Shape 13"/>
          <p:cNvSpPr/>
          <p:nvPr/>
        </p:nvSpPr>
        <p:spPr>
          <a:xfrm>
            <a:off x="457200" y="3383280"/>
            <a:ext cx="8229600" cy="1371600"/>
          </a:xfrm>
          <a:prstGeom prst="rect">
            <a:avLst/>
          </a:prstGeom>
          <a:solidFill>
            <a:srgbClr val="0D9488"/>
          </a:solidFill>
          <a:ln/>
        </p:spPr>
      </p:sp>
      <p:sp>
        <p:nvSpPr>
          <p:cNvPr id="16" name="Text 14"/>
          <p:cNvSpPr/>
          <p:nvPr/>
        </p:nvSpPr>
        <p:spPr>
          <a:xfrm>
            <a:off x="640080" y="3520440"/>
            <a:ext cx="786384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bigger question:</a:t>
            </a:r>
            <a:endParaRPr lang="en-US" sz="1400" dirty="0"/>
          </a:p>
        </p:txBody>
      </p:sp>
      <p:sp>
        <p:nvSpPr>
          <p:cNvPr id="17" name="Text 15"/>
          <p:cNvSpPr/>
          <p:nvPr/>
        </p:nvSpPr>
        <p:spPr>
          <a:xfrm>
            <a:off x="640080" y="3840480"/>
            <a:ext cx="7863840" cy="73152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Can we train models to be more faithful by steering away from shortcut circuits?</a:t>
            </a:r>
            <a:endParaRPr lang="en-US" sz="18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DEEP DIVE — Path Forward
CORE NARRATIVE (2-3 minutes):
THE IMMEDIATE NEXT STEP:
"Qwen2.5-Math-7B is the right model. 85% on the MATH benchmark, genuinely trained for arithmetic, instruction-tuned. The pipeline I've built runs on any HookedTransformer-compatible model — it's a configuration change, not a rewrite. Run the same contrastive patching on Qwen, identify its equivalent of L7H6, then test whether ablating it shifts behavior from shortcut to faithful."
"QwQ-32B at 90% on MATH-500 is the ceiling test — a model that reasons so reliably that you'd expect faithful circuits to be strongly expressed."
THE RESEARCH QUESTION THAT ACTUALLY MATTERS:
"Can we identify shortcut circuits reliably enough to use this during training? The vision is: run circuit analysis on intermediate checkpoints, detect when shortcut heads are developing, and add a regularization signal that penalizes high activation of those components during training. If that works, you get a model that's mechanistically more faithful — not just behaviorally better at benchmarks."
THE SCHMIDT SCIENCES CONNECTION:
"This maps directly to the three-phase proposal I submitted to Schmidt Sciences. Phase 1 is what I've done — GPT-2 baseline. Phase 2 scales to Qwen2.5-Math and Gemma 3 12B. Phase 3 applies the detector to human-AI collaborative reasoning, testing whether humans can use circuit-level faithfulness scores to decide when to trust a model's explanation."
SCALING CONSIDERATIONS:
"Larger models will have more components — GPT-2 has 144 heads, Qwen2.5-7B has around 256. The patching experiments scale linearly in compute. The bigger challenge is that shortcut circuits in capable models may be more distributed — not a single L7H6 but a coalition of heads. The methodology handles that, but the interpretation gets harder."
LIKELY QUESTIONS:
Q: "Why not just use SAEs instead of patching?"
A: "SAEs (like Anthropic's Gemma Scope work) decompose residual stream into interpretable features. My approach is more targeted — I'm identifying causal components via intervention, not decomposing features. They're complementary. SAEs would help interpret what L7H6 is attending to; patching tells you whether it matters causally. Ideally you'd use both."
Q: "How does this relate to Constitutional AI or RLHF?"
A: "RLHF optimizes behavior. This operates at the mechanistic level — it's asking whether the circuits that produce a behavior are using the reasoning trace or bypassing it. You could imagine a world where RLHF-trained models look faithful behaviorally but have strong shortcut circuits internally. That's the failure mode this detects."
</a:t>
              </a:r>
            </a:p>
          </p:txBody>
        </p:sp>
      </p:spTree>
    </p:cSld>
  </p:notes>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3" name="Text 1"/>
          <p:cNvSpPr/>
          <p:nvPr/>
        </p:nvSpPr>
        <p:spPr>
          <a:xfrm>
            <a:off x="457200" y="2560320"/>
            <a:ext cx="8229600" cy="457200"/>
          </a:xfrm>
          <a:prstGeom prst="rect">
            <a:avLst/>
          </a:prstGeom>
          <a:noFill/>
          <a:ln/>
        </p:spPr>
        <p:txBody>
          <a:bodyPr wrap="square"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Victor Ashioya</a:t>
            </a:r>
            <a:endParaRPr lang="en-US" sz="2000" dirty="0"/>
          </a:p>
        </p:txBody>
      </p:sp>
      <p:sp>
        <p:nvSpPr>
          <p:cNvPr id="4" name="Text 2"/>
          <p:cNvSpPr/>
          <p:nvPr/>
        </p:nvSpPr>
        <p:spPr>
          <a:xfrm>
            <a:off x="457200" y="3200400"/>
            <a:ext cx="8229600" cy="1097280"/>
          </a:xfrm>
          <a:prstGeom prst="rect">
            <a:avLst/>
          </a:prstGeom>
          <a:noFill/>
          <a:ln/>
        </p:spPr>
        <p:txBody>
          <a:bodyPr wrap="square" rtlCol="0" anchor="ctr"/>
          <a:lstStyle/>
          <a:p>
            <a:pPr algn="ctr" indent="0" marL="0">
              <a:buNone/>
            </a:pPr>
            <a:r>
              <a:rPr lang="en-US" sz="1400" dirty="0">
                <a:solidFill>
                  <a:srgbClr val="14B8A6"/>
                </a:solidFill>
                <a:latin typeface="Calibri" pitchFamily="34" charset="0"/>
                <a:ea typeface="Calibri" pitchFamily="34" charset="-122"/>
                <a:cs typeface="Calibri" pitchFamily="34" charset="-120"/>
              </a:rPr>
              <a:t>📄  ashioyajotham.substack.com</a:t>
            </a:r>
            <a:endParaRPr lang="en-US" sz="1400" dirty="0"/>
          </a:p>
          <a:p>
            <a:pPr algn="ctr" indent="0" marL="0">
              <a:buNone/>
            </a:pPr>
            <a:r>
              <a:rPr lang="en-US" sz="1400" dirty="0">
                <a:solidFill>
                  <a:srgbClr val="14B8A6"/>
                </a:solidFill>
                <a:latin typeface="Calibri" pitchFamily="34" charset="0"/>
                <a:ea typeface="Calibri" pitchFamily="34" charset="-122"/>
                <a:cs typeface="Calibri" pitchFamily="34" charset="-120"/>
              </a:rPr>
              <a:t>🔗  github.com/ashioyajotham/cot-faithfulness-mech-interp</a:t>
            </a:r>
            <a:endParaRPr lang="en-US" sz="1400" dirty="0"/>
          </a:p>
          <a:p>
            <a:pPr algn="ctr" indent="0" marL="0">
              <a:buNone/>
            </a:pPr>
            <a:r>
              <a:rPr lang="en-US" sz="1400" dirty="0">
                <a:solidFill>
                  <a:srgbClr val="14B8A6"/>
                </a:solidFill>
                <a:latin typeface="Calibri" pitchFamily="34" charset="0"/>
                <a:ea typeface="Calibri" pitchFamily="34" charset="-122"/>
                <a:cs typeface="Calibri" pitchFamily="34" charset="-120"/>
              </a:rPr>
              <a:t>✉️   victorashioya960@gmail.com</a:t>
            </a:r>
            <a:endParaRPr lang="en-US" sz="1400" dirty="0"/>
          </a:p>
        </p:txBody>
      </p:sp>
      <p:sp>
        <p:nvSpPr>
          <p:cNvPr id="5" name="Text 3"/>
          <p:cNvSpPr/>
          <p:nvPr/>
        </p:nvSpPr>
        <p:spPr>
          <a:xfrm>
            <a:off x="457200" y="4480560"/>
            <a:ext cx="8229600" cy="457200"/>
          </a:xfrm>
          <a:prstGeom prst="rect">
            <a:avLst/>
          </a:prstGeom>
          <a:noFill/>
          <a:ln/>
        </p:spPr>
        <p:txBody>
          <a:bodyPr wrap="square" rtlCol="0" anchor="ctr"/>
          <a:lstStyle/>
          <a:p>
            <a:pPr algn="ctr" indent="0" marL="0">
              <a:buNone/>
            </a:pPr>
            <a:r>
              <a:rPr lang="en-US" sz="2400" i="1" dirty="0">
                <a:solidFill>
                  <a:srgbClr val="FFFFFF"/>
                </a:solidFill>
                <a:latin typeface="Georgia" pitchFamily="34" charset="0"/>
                <a:ea typeface="Georgia" pitchFamily="34" charset="-122"/>
                <a:cs typeface="Georgia" pitchFamily="34" charset="-120"/>
              </a:rPr>
              <a:t>Questions?</a:t>
            </a:r>
            <a:endParaRPr lang="en-US" sz="2400" dirty="0"/>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DEEP DIVE — Thank You / Q&amp;A
CLOSING STATEMENT:
"The code, dataset, and full write-up are at the GitHub link. I'd especially love to connect with anyone working on arithmetic-capable models or who has experience running TransformerLens on Qwen or Gemma — those are the natural next collaborators."
TOP 5 QUESTIONS YOU WILL GET:
1. "Why GPT-2 instead of a larger model?"
"Mechanistic interpretability is easier on smaller models — fewer components, cleaner circuits, the IOI paper tradition. GPT-2 Small is the standard benchmark. The methodology is the contribution; GPT-2 is the testbed."
2. "How does this relate to Anthropic's Tracing Thoughts paper?"
"Great parallel — they used dictionary learning (SAEs) on Claude's internal representations to find interpretable features. I used activation patching on GPT-2 to find causal components. Different methods, same goal: understand the circuits behind faithful versus unfaithful reasoning. They found features that activate on 'deception' concepts; I found heads that route between faithful and shortcut pathways. These are complementary approaches."
3. "Could you use this to detect hallucination, not just CoT faithfulness?"
"Potentially. Hallucination detection would require a different contrastive pair design — paired prompts where one has grounding and one doesn't. But the same linear probe framework would apply. It's a natural extension."
4. "Is the 88% result sufficient for a real-world monitor?"
"For a research proof-of-concept, yes. For deployment, you'd want cross-task generalization testing, robustness to prompt format variation, and calibration analysis. 88% within-distribution is a strong starting point, not a finish line."
5. "What's your take on whether larger models are more or less faithful?"
"Lanham's result is that larger models are less faithful — counterintuitive. My hypothesis is that larger models develop stronger shortcut circuits because they have more capacity to memorize patterns. This should be testable with my pipeline: run the same analysis across GPT-2 Small, Medium, Large, and XL, and measure whether shortcut restoration scores increase with scale."
CONNECTING WITH PEOPLE AFTERWARD:
- Anthropic/DeepMind alumni in the audience: mention the Schmidt Sciences application (INT-RFP-26-0000000071)
- Anyone interested in African AI safety: mention SAIL Africa
- Anyone asking about scaling: mention the Qwen/Gemma pipeline as immediate next steps
</a:t>
              </a:r>
            </a:p>
          </p:txBody>
        </p:sp>
      </p:spTree>
    </p:cSld>
  </p:notes>
</p:sld>
</file>

<file path=ppt/slides/slide12.xml><?xml version="1.0" encoding="utf-8"?>
<p:sld xmlns:a="http://schemas.openxmlformats.org/drawingml/2006/main" xmlns:r="http://schemas.openxmlformats.org/officeDocument/2006/relationships" xmlns:p="http://schemas.openxmlformats.org/presentationml/2006/main">
  <p:cSld name="Results at a Glance">
    <p:bg>
      <p:bgPr>
        <a:solidFill>
          <a:srgbClr val="1E2761"/>
        </a:solidFill>
      </p:bgPr>
    </p:bg>
    <p:spTree>
      <p:nvGrpSpPr>
        <p:cNvPr id="1" name=""/>
        <p:cNvGrpSpPr/>
        <p:nvPr/>
      </p:nvGrpSpPr>
      <p:grpSpPr>
        <a:xfrm>
          <a:off x="0" y="0"/>
          <a:ext cx="0" cy="0"/>
          <a:chOff x="0" y="0"/>
          <a:chExt cx="0" cy="0"/>
        </a:xfrm>
      </p:grpSpPr>
      <p:sp>
        <p:nvSpPr>
          <p:cNvPr id="2" name="Title"/>
          <p:cNvSpPr/>
          <p:nvPr/>
        </p:nvSpPr>
        <p:spPr>
          <a:xfrm>
            <a:off x="457200" y="274638"/>
            <a:ext cx="8229600" cy="50292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rPr>
              <a:t>Results at a Glance</a:t>
            </a:r>
          </a:p>
        </p:txBody>
      </p:sp>
      <p:sp>
        <p:nvSpPr>
          <p:cNvPr id="3" name="Card1"/>
          <p:cNvSpPr/>
          <p:nvPr/>
        </p:nvSpPr>
        <p:spPr>
          <a:xfrm>
            <a:off x="457200" y="914400"/>
            <a:ext cx="2651760" cy="2743200"/>
          </a:xfrm>
          <a:prstGeom prst="rect">
            <a:avLst/>
          </a:prstGeom>
          <a:solidFill>
            <a:srgbClr val="065A82"/>
          </a:solidFill>
          <a:ln/>
        </p:spPr>
      </p:sp>
      <p:sp>
        <p:nvSpPr>
          <p:cNvPr id="4" name="Card1Num"/>
          <p:cNvSpPr/>
          <p:nvPr/>
        </p:nvSpPr>
        <p:spPr>
          <a:xfrm>
            <a:off x="457200" y="1005840"/>
            <a:ext cx="2651760" cy="1097280"/>
          </a:xfrm>
          <a:prstGeom prst="rect">
            <a:avLst/>
          </a:prstGeom>
          <a:noFill/>
          <a:ln/>
        </p:spPr>
        <p:txBody>
          <a:bodyPr wrap="square" rtlCol="0" anchor="ctr"/>
          <a:lstStyle/>
          <a:p>
            <a:pPr algn="ctr" indent="0" marL="0">
              <a:buNone/>
            </a:pPr>
            <a:r>
              <a:rPr lang="en-US" sz="6000" b="1" dirty="0">
                <a:solidFill>
                  <a:srgbClr val="14B8A6"/>
                </a:solidFill>
                <a:latin typeface="Georgia" pitchFamily="34" charset="0"/>
              </a:rPr>
              <a:t>88%</a:t>
            </a:r>
          </a:p>
        </p:txBody>
      </p:sp>
      <p:sp>
        <p:nvSpPr>
          <p:cNvPr id="5" name="Card1Label"/>
          <p:cNvSpPr/>
          <p:nvPr/>
        </p:nvSpPr>
        <p:spPr>
          <a:xfrm>
            <a:off x="548640" y="2102880"/>
            <a:ext cx="246888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rPr>
              <a:t>Detection accuracy</a:t>
            </a:r>
          </a:p>
        </p:txBody>
      </p:sp>
      <p:sp>
        <p:nvSpPr>
          <p:cNvPr id="6" name="Card1Sub"/>
          <p:cNvSpPr/>
          <p:nvPr/>
        </p:nvSpPr>
        <p:spPr>
          <a:xfrm>
            <a:off x="548640" y="2560080"/>
            <a:ext cx="2468880"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rPr>
              <a:t>ROC-AUC: 0.949</a:t>
            </a:r>
          </a:p>
        </p:txBody>
      </p:sp>
      <p:sp>
        <p:nvSpPr>
          <p:cNvPr id="7" name="Card2"/>
          <p:cNvSpPr/>
          <p:nvPr/>
        </p:nvSpPr>
        <p:spPr>
          <a:xfrm>
            <a:off x="3291840" y="914400"/>
            <a:ext cx="2651760" cy="2743200"/>
          </a:xfrm>
          <a:prstGeom prst="rect">
            <a:avLst/>
          </a:prstGeom>
          <a:solidFill>
            <a:srgbClr val="065A82"/>
          </a:solidFill>
          <a:ln/>
        </p:spPr>
      </p:sp>
      <p:sp>
        <p:nvSpPr>
          <p:cNvPr id="8" name="Card2Num"/>
          <p:cNvSpPr/>
          <p:nvPr/>
        </p:nvSpPr>
        <p:spPr>
          <a:xfrm>
            <a:off x="3291840" y="1005840"/>
            <a:ext cx="2651760" cy="1097280"/>
          </a:xfrm>
          <a:prstGeom prst="rect">
            <a:avLst/>
          </a:prstGeom>
          <a:noFill/>
          <a:ln/>
        </p:spPr>
        <p:txBody>
          <a:bodyPr wrap="square" rtlCol="0" anchor="ctr"/>
          <a:lstStyle/>
          <a:p>
            <a:pPr algn="ctr" indent="0" marL="0">
              <a:buNone/>
            </a:pPr>
            <a:r>
              <a:rPr lang="en-US" sz="6000" b="1" dirty="0">
                <a:solidFill>
                  <a:srgbClr val="14B8A6"/>
                </a:solidFill>
                <a:latin typeface="Georgia" pitchFamily="34" charset="0"/>
              </a:rPr>
              <a:t>23</a:t>
            </a:r>
          </a:p>
        </p:txBody>
      </p:sp>
      <p:sp>
        <p:nvSpPr>
          <p:cNvPr id="9" name="Card2Label"/>
          <p:cNvSpPr/>
          <p:nvPr/>
        </p:nvSpPr>
        <p:spPr>
          <a:xfrm>
            <a:off x="3383280" y="2102880"/>
            <a:ext cx="246888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rPr>
              <a:t>Circuit components</a:t>
            </a:r>
          </a:p>
        </p:txBody>
      </p:sp>
      <p:sp>
        <p:nvSpPr>
          <p:cNvPr id="10" name="Card2Sub"/>
          <p:cNvSpPr/>
          <p:nvPr/>
        </p:nvSpPr>
        <p:spPr>
          <a:xfrm>
            <a:off x="3383280" y="2560080"/>
            <a:ext cx="2468880"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rPr>
              <a:t>mechanistically identified</a:t>
            </a:r>
          </a:p>
        </p:txBody>
      </p:sp>
      <p:sp>
        <p:nvSpPr>
          <p:cNvPr id="11" name="Card3"/>
          <p:cNvSpPr/>
          <p:nvPr/>
        </p:nvSpPr>
        <p:spPr>
          <a:xfrm>
            <a:off x="6126480" y="914400"/>
            <a:ext cx="2651760" cy="2743200"/>
          </a:xfrm>
          <a:prstGeom prst="rect">
            <a:avLst/>
          </a:prstGeom>
          <a:solidFill>
            <a:srgbClr val="065A82"/>
          </a:solidFill>
          <a:ln/>
        </p:spPr>
      </p:sp>
      <p:sp>
        <p:nvSpPr>
          <p:cNvPr id="12" name="Card3Num"/>
          <p:cNvSpPr/>
          <p:nvPr/>
        </p:nvSpPr>
        <p:spPr>
          <a:xfrm>
            <a:off x="6126480" y="1005840"/>
            <a:ext cx="2651760" cy="1097280"/>
          </a:xfrm>
          <a:prstGeom prst="rect">
            <a:avLst/>
          </a:prstGeom>
          <a:noFill/>
          <a:ln/>
        </p:spPr>
        <p:txBody>
          <a:bodyPr wrap="square" rtlCol="0" anchor="ctr"/>
          <a:lstStyle/>
          <a:p>
            <a:pPr algn="ctr" indent="0" marL="0">
              <a:buNone/>
            </a:pPr>
            <a:r>
              <a:rPr lang="en-US" sz="4400" b="1" dirty="0">
                <a:solidFill>
                  <a:srgbClr val="F97316"/>
                </a:solidFill>
                <a:latin typeface="Georgia" pitchFamily="34" charset="0"/>
              </a:rPr>
              <a:t>L7H6</a:t>
            </a:r>
          </a:p>
        </p:txBody>
      </p:sp>
      <p:sp>
        <p:nvSpPr>
          <p:cNvPr id="13" name="Card3Label"/>
          <p:cNvSpPr/>
          <p:nvPr/>
        </p:nvSpPr>
        <p:spPr>
          <a:xfrm>
            <a:off x="6217920" y="2102880"/>
            <a:ext cx="246888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rPr>
              <a:t>The shortcut head</a:t>
            </a:r>
          </a:p>
        </p:txBody>
      </p:sp>
      <p:sp>
        <p:nvSpPr>
          <p:cNvPr id="14" name="Card3Sub"/>
          <p:cNvSpPr/>
          <p:nvPr/>
        </p:nvSpPr>
        <p:spPr>
          <a:xfrm>
            <a:off x="6217920" y="2560080"/>
            <a:ext cx="2468880"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rPr>
              <a:t>dominates detection</a:t>
            </a:r>
          </a:p>
        </p:txBody>
      </p:sp>
      <p:sp>
        <p:nvSpPr>
          <p:cNvPr id="15" name="BottomBar"/>
          <p:cNvSpPr/>
          <p:nvPr/>
        </p:nvSpPr>
        <p:spPr>
          <a:xfrm>
            <a:off x="457200" y="3886200"/>
            <a:ext cx="8229600" cy="914400"/>
          </a:xfrm>
          <a:prstGeom prst="rect">
            <a:avLst/>
          </a:prstGeom>
          <a:solidFill>
            <a:srgbClr val="0D9488"/>
          </a:solidFill>
          <a:ln/>
        </p:spPr>
      </p:sp>
      <p:sp>
        <p:nvSpPr>
          <p:cNvPr id="16" name="Tagline"/>
          <p:cNvSpPr/>
          <p:nvPr/>
        </p:nvSpPr>
        <p:spPr>
          <a:xfrm>
            <a:off x="640080" y="3977640"/>
            <a:ext cx="7863840" cy="548640"/>
          </a:xfrm>
          <a:prstGeom prst="rect">
            <a:avLst/>
          </a:prstGeom>
          <a:noFill/>
          <a:ln/>
        </p:spPr>
        <p:txBody>
          <a:bodyPr wrap="square" rtlCol="0" anchor="ctr"/>
          <a:lstStyle/>
          <a:p>
            <a:pPr algn="ctr" indent="0" marL="0">
              <a:buNone/>
            </a:pPr>
            <a:r>
              <a:rPr lang="en-US" sz="1600" b="1" i="1" dirty="0">
                <a:solidFill>
                  <a:srgbClr val="FFFFFF"/>
                </a:solidFill>
                <a:latin typeface="Georgia" pitchFamily="34" charset="0"/>
              </a:rPr>
              <a:t>Faithfulness is linearly detectable from mechanistically-identified circuits</a:t>
            </a:r>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LIGHTNING TALK — Slide 5/Results (30 seconds) — THIS IS YOUR CLOSER
WHAT TO SAY:
"Here's what we found. 88% detection accuracy with a ROC-AUC of 0.949. We identified 23 mechanistically-verified circuit components — attention heads and MLPs whose causal role in faithful versus shortcut reasoning is confirmed by patching experiments. And when I looked at which component drives the detector most, it came down to one attention head: L7H6. When L7H6 activates strongly, the model is taking a shortcut instead of following its chain-of-thought.
That's the 2-minute version. If you want to understand how we found those 23 components, what L7H6 is actually doing, and why the intervention experiments revealed something important about GPT-2's arithmetic ability — stay for the deep dive."
DELIVERY NOTES:
- Read the three numbers in order left to right: 88%, 23, L7H6. Let each land.
- "Mechanistically-verified" is the key qualifier — distinguish this from correlation-based feature selection.
- The invite to the deep dive is a natural close. Don't rush it.
- End with a question to the room if you have time: "Any of those numbers surprising?"
THE HEADLINE SENTENCE: "Faithfulness is linearly detectable from mechanistically-identified circuits." This is your contribution in 8 words. Be comfortable saying it.
</a:t>
              </a:r>
            </a:p>
          </p:txBody>
        </p:sp>
      </p:spTree>
    </p:cSld>
  </p:notes>
</p:sld>
</file>

<file path=ppt/slides/slide13.xml><?xml version="1.0" encoding="utf-8"?>
<p:sld xmlns:a="http://schemas.openxmlformats.org/drawingml/2006/main" xmlns:r="http://schemas.openxmlformats.org/officeDocument/2006/relationships" xmlns:p="http://schemas.openxmlformats.org/presentationml/2006/main">
  <p:cSld name="Deep Dive">
    <p:bg>
      <p:bgPr>
        <a:solidFill>
          <a:srgbClr val="0D9488"/>
        </a:solidFill>
      </p:bgPr>
    </p:bg>
    <p:spTree>
      <p:nvGrpSpPr>
        <p:cNvPr id="1" name=""/>
        <p:cNvGrpSpPr/>
        <p:nvPr/>
      </p:nvGrpSpPr>
      <p:grpSpPr>
        <a:xfrm>
          <a:off x="0" y="0"/>
          <a:ext cx="0" cy="0"/>
          <a:chOff x="0" y="0"/>
          <a:chExt cx="0" cy="0"/>
        </a:xfrm>
      </p:grpSpPr>
      <p:sp>
        <p:nvSpPr>
          <p:cNvPr id="2" name="Eyebrow"/>
          <p:cNvSpPr/>
          <p:nvPr/>
        </p:nvSpPr>
        <p:spPr>
          <a:xfrm>
            <a:off x="457200" y="548640"/>
            <a:ext cx="8229600" cy="365760"/>
          </a:xfrm>
          <a:prstGeom prst="rect">
            <a:avLst/>
          </a:prstGeom>
          <a:noFill/>
          <a:ln/>
        </p:spPr>
        <p:txBody>
          <a:bodyPr wrap="square" rtlCol="0" anchor="ctr"/>
          <a:lstStyle/>
          <a:p>
            <a:pPr algn="ctr" indent="0" marL="0">
              <a:buNone/>
            </a:pPr>
            <a:r>
              <a:rPr lang="en-US" sz="1400" b="0" dirty="0">
                <a:solidFill>
                  <a:srgbClr val="CCFBF1"/>
                </a:solidFill>
                <a:latin typeface="Calibri" pitchFamily="34" charset="0"/>
              </a:rPr>
              <a:t>Small-group session</a:t>
            </a:r>
          </a:p>
        </p:txBody>
      </p:sp>
      <p:sp>
        <p:nvSpPr>
          <p:cNvPr id="3" name="Heading"/>
          <p:cNvSpPr/>
          <p:nvPr/>
        </p:nvSpPr>
        <p:spPr>
          <a:xfrm>
            <a:off x="457200" y="1005840"/>
            <a:ext cx="8229600" cy="128016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rPr>
              <a:t>Deep Dive</a:t>
            </a:r>
          </a:p>
        </p:txBody>
      </p:sp>
      <p:sp>
        <p:nvSpPr>
          <p:cNvPr id="4" name="Divider"/>
          <p:cNvSpPr/>
          <p:nvPr/>
        </p:nvSpPr>
        <p:spPr>
          <a:xfrm>
            <a:off x="3200400" y="2286000"/>
            <a:ext cx="2743200" cy="45720"/>
          </a:xfrm>
          <a:prstGeom prst="rect">
            <a:avLst/>
          </a:prstGeom>
          <a:solidFill>
            <a:srgbClr val="FFFFFF"/>
          </a:solidFill>
          <a:ln/>
        </p:spPr>
      </p:sp>
      <p:sp>
        <p:nvSpPr>
          <p:cNvPr id="5" name="Topics"/>
          <p:cNvSpPr/>
          <p:nvPr/>
        </p:nvSpPr>
        <p:spPr>
          <a:xfrm>
            <a:off x="457200" y="2377440"/>
            <a:ext cx="8229600" cy="19202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rPr>
              <a:t>Circuit discovery  •  Faithfulness detector  •  What’s next</a:t>
            </a:r>
          </a:p>
        </p:txBody>
      </p:sp>
    </p:spTree>
  </p:cSld>
  <p:clrMapOvr>
    <a:masterClrMapping/>
  </p:clrMapOvr>
  <p:notes>
    <p:cSld>
      <p:spTree>
        <p:nvGrpSpPr>
          <p:cNvPr id="1" name=""/>
          <p:cNvGrpSpPr/>
          <p:nvPr/>
        </p:nvGrpSpPr>
        <p:grpSpPr>
          <a:xfrm>
            <a:off x="0" y="0"/>
            <a:ext cx="0" cy="0"/>
            <a:chOff x="0" y="0"/>
            <a:chExt cx="0" cy="0"/>
          </a:xfrm>
        </p:grpSpPr>
        <p:sp>
          <p:nvSpPr>
            <p:cNvPr id="2" name="Notes"/>
            <p:cNvSpPr>
              <p:ph type="body"/>
            </p:cNvSpPr>
            <p:nvPr/>
          </p:nvSpPr>
          <p:spPr/>
          <p:txBody>
            <a:bodyPr/>
            <a:lstStyle/>
            <a:p>
              <a:r>
                <a:t>SECTION BREAK — Deep Dive begins here
DELIVERY:
Show this slide as you transition from the lightning talk room to the small group. It signals a mode switch — you're no longer presenting, you're discussing.
OPENING FOR SMALL GROUP:
"Welcome to the deep dive. Before I go slide by slide, let me ask — what are you most curious about? I can go in order, or we can go straight to whatever interests you most."
THREE PATHS through the deep dive:
1. METHODOLOGY FOCUS (for interpretability researchers): Start at Phase 1 (next slide). Walk through ablation → contrastive patching → head-level granularity → classification matrix. This takes ~6 minutes.
2. RESULTS FOCUS (for ML practitioners): Jump to Phase 2 results. Explain the three detection paths, why the probe beats the steering vector, and what the coefficient distribution tells you. ~4 minutes.
3. SAFETY IMPLICATIONS FOCUS (for alignment people): Start with the deceptive alignment framing from Phase 1's hypothesis, connect to the dataset design, then jump to Path Forward. ~5 minutes.
GOOD OPENING QUESTIONS TO ASK THE GROUP:
- "Has anyone worked with activation patching before?"
- "Does anyone have experience with models that actually do arithmetic — Qwen, Gemma-Math?"
- "What's your prior on whether this generalizes beyond arithmetic?"
</a:t>
              </a:r>
            </a:p>
          </p:txBody>
        </p:sp>
      </p:spTree>
    </p:cSld>
  </p:notes>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Unfaithful Chain-of-Thought</dc:title>
  <dc:subject>PptxGenJS Presentation</dc:subject>
  <dc:creator>Victor Ashioya</dc:creator>
  <cp:lastModifiedBy>Victor Ashioya</cp:lastModifiedBy>
  <cp:revision>1</cp:revision>
  <dcterms:created xsi:type="dcterms:W3CDTF">2026-03-15T07:38:55Z</dcterms:created>
  <dcterms:modified xsi:type="dcterms:W3CDTF">2026-03-15T07:38:55Z</dcterms:modified>
</cp:coreProperties>
</file>